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MuseoModerno Medium"/>
      <p:regular r:id="rId17"/>
    </p:embeddedFont>
    <p:embeddedFont>
      <p:font typeface="MuseoModerno Medium"/>
      <p:regular r:id="rId18"/>
    </p:embeddedFont>
    <p:embeddedFont>
      <p:font typeface="MuseoModerno Medium"/>
      <p:regular r:id="rId19"/>
    </p:embeddedFont>
    <p:embeddedFont>
      <p:font typeface="MuseoModerno Medium"/>
      <p:regular r:id="rId20"/>
    </p:embeddedFont>
    <p:embeddedFont>
      <p:font typeface="Source Sans 3"/>
      <p:regular r:id="rId21"/>
    </p:embeddedFont>
    <p:embeddedFont>
      <p:font typeface="Source Sans 3"/>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slideLayout" Target="../slideLayouts/slideLayout6.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028355"/>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Customer Shopping Behavior Analysis</a:t>
            </a:r>
            <a:endParaRPr lang="en-US" sz="3900" dirty="0"/>
          </a:p>
        </p:txBody>
      </p:sp>
      <p:sp>
        <p:nvSpPr>
          <p:cNvPr id="4" name="Text 1"/>
          <p:cNvSpPr/>
          <p:nvPr/>
        </p:nvSpPr>
        <p:spPr>
          <a:xfrm>
            <a:off x="793790" y="4566166"/>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A comprehensive data-driven exploration of 3,900 purchase transactions to uncover spending patterns, customer segments, and strategic opportunities for business growth.</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143958"/>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Dataset Overview</a:t>
            </a:r>
            <a:endParaRPr lang="en-US" sz="3900" dirty="0"/>
          </a:p>
        </p:txBody>
      </p:sp>
      <p:sp>
        <p:nvSpPr>
          <p:cNvPr id="3" name="Text 1"/>
          <p:cNvSpPr/>
          <p:nvPr/>
        </p:nvSpPr>
        <p:spPr>
          <a:xfrm>
            <a:off x="793790" y="3260050"/>
            <a:ext cx="4182189" cy="654963"/>
          </a:xfrm>
          <a:prstGeom prst="rect">
            <a:avLst/>
          </a:prstGeom>
          <a:noFill/>
          <a:ln/>
        </p:spPr>
        <p:txBody>
          <a:bodyPr wrap="none" lIns="0" tIns="0" rIns="0" bIns="0" rtlCol="0" anchor="t"/>
          <a:lstStyle/>
          <a:p>
            <a:pPr algn="ctr" indent="0" marL="0">
              <a:lnSpc>
                <a:spcPts val="5150"/>
              </a:lnSpc>
              <a:buNone/>
            </a:pPr>
            <a:r>
              <a:rPr lang="en-US" sz="5150" dirty="0">
                <a:solidFill>
                  <a:srgbClr val="2B4150"/>
                </a:solidFill>
                <a:latin typeface="MuseoModerno Medium" pitchFamily="34" charset="0"/>
                <a:ea typeface="MuseoModerno Medium" pitchFamily="34" charset="-122"/>
                <a:cs typeface="MuseoModerno Medium" pitchFamily="34" charset="-120"/>
              </a:rPr>
              <a:t>3,900</a:t>
            </a:r>
            <a:endParaRPr lang="en-US" sz="5150" dirty="0"/>
          </a:p>
        </p:txBody>
      </p:sp>
      <p:sp>
        <p:nvSpPr>
          <p:cNvPr id="4" name="Text 2"/>
          <p:cNvSpPr/>
          <p:nvPr/>
        </p:nvSpPr>
        <p:spPr>
          <a:xfrm>
            <a:off x="1644372" y="4163020"/>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Purchase Records</a:t>
            </a:r>
            <a:endParaRPr lang="en-US" sz="1950" dirty="0"/>
          </a:p>
        </p:txBody>
      </p:sp>
      <p:sp>
        <p:nvSpPr>
          <p:cNvPr id="5" name="Text 3"/>
          <p:cNvSpPr/>
          <p:nvPr/>
        </p:nvSpPr>
        <p:spPr>
          <a:xfrm>
            <a:off x="793790" y="4592241"/>
            <a:ext cx="4182189" cy="317540"/>
          </a:xfrm>
          <a:prstGeom prst="rect">
            <a:avLst/>
          </a:prstGeom>
          <a:noFill/>
          <a:ln/>
        </p:spPr>
        <p:txBody>
          <a:bodyPr wrap="none" lIns="0" tIns="0" rIns="0" bIns="0" rtlCol="0" anchor="t"/>
          <a:lstStyle/>
          <a:p>
            <a:pPr algn="ctr"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Complete transactional dataset</a:t>
            </a:r>
            <a:endParaRPr lang="en-US" sz="1550" dirty="0"/>
          </a:p>
        </p:txBody>
      </p:sp>
      <p:sp>
        <p:nvSpPr>
          <p:cNvPr id="6" name="Text 4"/>
          <p:cNvSpPr/>
          <p:nvPr/>
        </p:nvSpPr>
        <p:spPr>
          <a:xfrm>
            <a:off x="5223986" y="3260050"/>
            <a:ext cx="4182308" cy="654963"/>
          </a:xfrm>
          <a:prstGeom prst="rect">
            <a:avLst/>
          </a:prstGeom>
          <a:noFill/>
          <a:ln/>
        </p:spPr>
        <p:txBody>
          <a:bodyPr wrap="none" lIns="0" tIns="0" rIns="0" bIns="0" rtlCol="0" anchor="t"/>
          <a:lstStyle/>
          <a:p>
            <a:pPr algn="ctr" indent="0" marL="0">
              <a:lnSpc>
                <a:spcPts val="5150"/>
              </a:lnSpc>
              <a:buNone/>
            </a:pPr>
            <a:r>
              <a:rPr lang="en-US" sz="5150" dirty="0">
                <a:solidFill>
                  <a:srgbClr val="2B4150"/>
                </a:solidFill>
                <a:latin typeface="MuseoModerno Medium" pitchFamily="34" charset="0"/>
                <a:ea typeface="MuseoModerno Medium" pitchFamily="34" charset="-122"/>
                <a:cs typeface="MuseoModerno Medium" pitchFamily="34" charset="-120"/>
              </a:rPr>
              <a:t>18</a:t>
            </a:r>
            <a:endParaRPr lang="en-US" sz="5150" dirty="0"/>
          </a:p>
        </p:txBody>
      </p:sp>
      <p:sp>
        <p:nvSpPr>
          <p:cNvPr id="7" name="Text 5"/>
          <p:cNvSpPr/>
          <p:nvPr/>
        </p:nvSpPr>
        <p:spPr>
          <a:xfrm>
            <a:off x="6074688" y="4163020"/>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Data Columns</a:t>
            </a:r>
            <a:endParaRPr lang="en-US" sz="1950" dirty="0"/>
          </a:p>
        </p:txBody>
      </p:sp>
      <p:sp>
        <p:nvSpPr>
          <p:cNvPr id="8" name="Text 6"/>
          <p:cNvSpPr/>
          <p:nvPr/>
        </p:nvSpPr>
        <p:spPr>
          <a:xfrm>
            <a:off x="5223986" y="4592241"/>
            <a:ext cx="4182308" cy="317540"/>
          </a:xfrm>
          <a:prstGeom prst="rect">
            <a:avLst/>
          </a:prstGeom>
          <a:noFill/>
          <a:ln/>
        </p:spPr>
        <p:txBody>
          <a:bodyPr wrap="none" lIns="0" tIns="0" rIns="0" bIns="0" rtlCol="0" anchor="t"/>
          <a:lstStyle/>
          <a:p>
            <a:pPr algn="ctr"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Rich customer and purchase details</a:t>
            </a:r>
            <a:endParaRPr lang="en-US" sz="1550" dirty="0"/>
          </a:p>
        </p:txBody>
      </p:sp>
      <p:sp>
        <p:nvSpPr>
          <p:cNvPr id="9" name="Text 7"/>
          <p:cNvSpPr/>
          <p:nvPr/>
        </p:nvSpPr>
        <p:spPr>
          <a:xfrm>
            <a:off x="9654302" y="3260050"/>
            <a:ext cx="4182308" cy="654963"/>
          </a:xfrm>
          <a:prstGeom prst="rect">
            <a:avLst/>
          </a:prstGeom>
          <a:noFill/>
          <a:ln/>
        </p:spPr>
        <p:txBody>
          <a:bodyPr wrap="none" lIns="0" tIns="0" rIns="0" bIns="0" rtlCol="0" anchor="t"/>
          <a:lstStyle/>
          <a:p>
            <a:pPr algn="ctr" indent="0" marL="0">
              <a:lnSpc>
                <a:spcPts val="5150"/>
              </a:lnSpc>
              <a:buNone/>
            </a:pPr>
            <a:r>
              <a:rPr lang="en-US" sz="5150" dirty="0">
                <a:solidFill>
                  <a:srgbClr val="2B4150"/>
                </a:solidFill>
                <a:latin typeface="MuseoModerno Medium" pitchFamily="34" charset="0"/>
                <a:ea typeface="MuseoModerno Medium" pitchFamily="34" charset="-122"/>
                <a:cs typeface="MuseoModerno Medium" pitchFamily="34" charset="-120"/>
              </a:rPr>
              <a:t>37</a:t>
            </a:r>
            <a:endParaRPr lang="en-US" sz="5150" dirty="0"/>
          </a:p>
        </p:txBody>
      </p:sp>
      <p:sp>
        <p:nvSpPr>
          <p:cNvPr id="10" name="Text 8"/>
          <p:cNvSpPr/>
          <p:nvPr/>
        </p:nvSpPr>
        <p:spPr>
          <a:xfrm>
            <a:off x="10505003" y="4163020"/>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Missing Values</a:t>
            </a:r>
            <a:endParaRPr lang="en-US" sz="1950" dirty="0"/>
          </a:p>
        </p:txBody>
      </p:sp>
      <p:sp>
        <p:nvSpPr>
          <p:cNvPr id="11" name="Text 9"/>
          <p:cNvSpPr/>
          <p:nvPr/>
        </p:nvSpPr>
        <p:spPr>
          <a:xfrm>
            <a:off x="9654302" y="4592241"/>
            <a:ext cx="4182308" cy="317540"/>
          </a:xfrm>
          <a:prstGeom prst="rect">
            <a:avLst/>
          </a:prstGeom>
          <a:noFill/>
          <a:ln/>
        </p:spPr>
        <p:txBody>
          <a:bodyPr wrap="none" lIns="0" tIns="0" rIns="0" bIns="0" rtlCol="0" anchor="t"/>
          <a:lstStyle/>
          <a:p>
            <a:pPr algn="ctr"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Review ratings imputed</a:t>
            </a:r>
            <a:endParaRPr lang="en-US" sz="1550" dirty="0"/>
          </a:p>
        </p:txBody>
      </p:sp>
      <p:sp>
        <p:nvSpPr>
          <p:cNvPr id="12" name="Text 10"/>
          <p:cNvSpPr/>
          <p:nvPr/>
        </p:nvSpPr>
        <p:spPr>
          <a:xfrm>
            <a:off x="793790" y="5133023"/>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The dataset encompasses customer demographics (Age, Gender, Location, Subscription Status), detailed purchase information (Item Purchased, Category, Purchase Amount, Season, Size, Color), and comprehensive shopping behavior metrics (Discount Applied, Promo Code Used, Previous Purchases, Frequency of Purchases, Review Rating, Shipping Type).</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80348"/>
            <a:ext cx="6097072" cy="620078"/>
          </a:xfrm>
          <a:prstGeom prst="rect">
            <a:avLst/>
          </a:prstGeom>
          <a:noFill/>
          <a:ln/>
        </p:spPr>
        <p:txBody>
          <a:bodyPr wrap="none" lIns="0" tIns="0" rIns="0" bIns="0" rtlCol="0" anchor="t"/>
          <a:lstStyle/>
          <a:p>
            <a:pPr algn="l" indent="0" marL="0">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Data Preparation Process</a:t>
            </a:r>
            <a:endParaRPr lang="en-US" sz="3900" dirty="0"/>
          </a:p>
        </p:txBody>
      </p:sp>
      <p:sp>
        <p:nvSpPr>
          <p:cNvPr id="3" name="Text 1"/>
          <p:cNvSpPr/>
          <p:nvPr/>
        </p:nvSpPr>
        <p:spPr>
          <a:xfrm>
            <a:off x="793790" y="189726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01</a:t>
            </a:r>
            <a:endParaRPr lang="en-US" sz="1550" dirty="0"/>
          </a:p>
        </p:txBody>
      </p:sp>
      <p:sp>
        <p:nvSpPr>
          <p:cNvPr id="4" name="Shape 2"/>
          <p:cNvSpPr/>
          <p:nvPr/>
        </p:nvSpPr>
        <p:spPr>
          <a:xfrm>
            <a:off x="793790" y="2211586"/>
            <a:ext cx="6422231" cy="22860"/>
          </a:xfrm>
          <a:prstGeom prst="rect">
            <a:avLst/>
          </a:prstGeom>
          <a:solidFill>
            <a:srgbClr val="325F7B"/>
          </a:solidFill>
          <a:ln/>
        </p:spPr>
      </p:sp>
      <p:sp>
        <p:nvSpPr>
          <p:cNvPr id="5" name="Text 3"/>
          <p:cNvSpPr/>
          <p:nvPr/>
        </p:nvSpPr>
        <p:spPr>
          <a:xfrm>
            <a:off x="793790" y="2356485"/>
            <a:ext cx="3311247"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Data Loading &amp; Exploration</a:t>
            </a:r>
            <a:endParaRPr lang="en-US" sz="1950" dirty="0"/>
          </a:p>
        </p:txBody>
      </p:sp>
      <p:sp>
        <p:nvSpPr>
          <p:cNvPr id="6" name="Text 4"/>
          <p:cNvSpPr/>
          <p:nvPr/>
        </p:nvSpPr>
        <p:spPr>
          <a:xfrm>
            <a:off x="793790" y="2785705"/>
            <a:ext cx="6422231" cy="64269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Imported dataset using pandas and conducted initial exploration with </a:t>
            </a:r>
            <a:pPr algn="l" indent="0" marL="0">
              <a:lnSpc>
                <a:spcPts val="2500"/>
              </a:lnSpc>
              <a:buNone/>
            </a:pPr>
            <a:r>
              <a:rPr lang="en-US" sz="1550" dirty="0">
                <a:solidFill>
                  <a:srgbClr val="2B4150"/>
                </a:solidFill>
                <a:highlight>
                  <a:srgbClr val="F2EFE8"/>
                </a:highlight>
                <a:latin typeface="Consolas" pitchFamily="34" charset="0"/>
                <a:ea typeface="Consolas" pitchFamily="34" charset="-122"/>
                <a:cs typeface="Consolas" pitchFamily="34" charset="-120"/>
              </a:rPr>
              <a:t>df.info()</a:t>
            </a:r>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 and </a:t>
            </a:r>
            <a:pPr algn="l" indent="0" marL="0">
              <a:lnSpc>
                <a:spcPts val="2500"/>
              </a:lnSpc>
              <a:buNone/>
            </a:pPr>
            <a:r>
              <a:rPr lang="en-US" sz="1550" dirty="0">
                <a:solidFill>
                  <a:srgbClr val="2B4150"/>
                </a:solidFill>
                <a:highlight>
                  <a:srgbClr val="F2EFE8"/>
                </a:highlight>
                <a:latin typeface="Consolas" pitchFamily="34" charset="0"/>
                <a:ea typeface="Consolas" pitchFamily="34" charset="-122"/>
                <a:cs typeface="Consolas" pitchFamily="34" charset="-120"/>
              </a:rPr>
              <a:t>describe()</a:t>
            </a:r>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 for structure and summary statistics.</a:t>
            </a:r>
            <a:endParaRPr lang="en-US" sz="1550" dirty="0"/>
          </a:p>
        </p:txBody>
      </p:sp>
      <p:sp>
        <p:nvSpPr>
          <p:cNvPr id="7" name="Text 5"/>
          <p:cNvSpPr/>
          <p:nvPr/>
        </p:nvSpPr>
        <p:spPr>
          <a:xfrm>
            <a:off x="7414379" y="189726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02</a:t>
            </a:r>
            <a:endParaRPr lang="en-US" sz="1550" dirty="0"/>
          </a:p>
        </p:txBody>
      </p:sp>
      <p:sp>
        <p:nvSpPr>
          <p:cNvPr id="8" name="Shape 6"/>
          <p:cNvSpPr/>
          <p:nvPr/>
        </p:nvSpPr>
        <p:spPr>
          <a:xfrm>
            <a:off x="7414379" y="2211586"/>
            <a:ext cx="6422231" cy="22860"/>
          </a:xfrm>
          <a:prstGeom prst="rect">
            <a:avLst/>
          </a:prstGeom>
          <a:solidFill>
            <a:srgbClr val="325F7B"/>
          </a:solidFill>
          <a:ln/>
        </p:spPr>
      </p:sp>
      <p:sp>
        <p:nvSpPr>
          <p:cNvPr id="9" name="Text 7"/>
          <p:cNvSpPr/>
          <p:nvPr/>
        </p:nvSpPr>
        <p:spPr>
          <a:xfrm>
            <a:off x="7414379" y="2356485"/>
            <a:ext cx="2783443"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Missing Data Handling</a:t>
            </a:r>
            <a:endParaRPr lang="en-US" sz="1950" dirty="0"/>
          </a:p>
        </p:txBody>
      </p:sp>
      <p:sp>
        <p:nvSpPr>
          <p:cNvPr id="10" name="Text 8"/>
          <p:cNvSpPr/>
          <p:nvPr/>
        </p:nvSpPr>
        <p:spPr>
          <a:xfrm>
            <a:off x="7414379" y="278570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Identified 37 missing values in Review Rating column and imputed using median ratings by product category.</a:t>
            </a:r>
            <a:endParaRPr lang="en-US" sz="1550" dirty="0"/>
          </a:p>
        </p:txBody>
      </p:sp>
      <p:sp>
        <p:nvSpPr>
          <p:cNvPr id="11" name="Text 9"/>
          <p:cNvSpPr/>
          <p:nvPr/>
        </p:nvSpPr>
        <p:spPr>
          <a:xfrm>
            <a:off x="793790" y="377559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03</a:t>
            </a:r>
            <a:endParaRPr lang="en-US" sz="1550" dirty="0"/>
          </a:p>
        </p:txBody>
      </p:sp>
      <p:sp>
        <p:nvSpPr>
          <p:cNvPr id="12" name="Shape 10"/>
          <p:cNvSpPr/>
          <p:nvPr/>
        </p:nvSpPr>
        <p:spPr>
          <a:xfrm>
            <a:off x="793790" y="4089916"/>
            <a:ext cx="6422231" cy="22860"/>
          </a:xfrm>
          <a:prstGeom prst="rect">
            <a:avLst/>
          </a:prstGeom>
          <a:solidFill>
            <a:srgbClr val="325F7B"/>
          </a:solidFill>
          <a:ln/>
        </p:spPr>
      </p:sp>
      <p:sp>
        <p:nvSpPr>
          <p:cNvPr id="13" name="Text 11"/>
          <p:cNvSpPr/>
          <p:nvPr/>
        </p:nvSpPr>
        <p:spPr>
          <a:xfrm>
            <a:off x="793790" y="4234815"/>
            <a:ext cx="2914174"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Column Standardization</a:t>
            </a:r>
            <a:endParaRPr lang="en-US" sz="1950" dirty="0"/>
          </a:p>
        </p:txBody>
      </p:sp>
      <p:sp>
        <p:nvSpPr>
          <p:cNvPr id="14" name="Text 12"/>
          <p:cNvSpPr/>
          <p:nvPr/>
        </p:nvSpPr>
        <p:spPr>
          <a:xfrm>
            <a:off x="793790" y="466403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Rewrote column names to snake case for improved readability and documentation standards.</a:t>
            </a:r>
            <a:endParaRPr lang="en-US" sz="1550" dirty="0"/>
          </a:p>
        </p:txBody>
      </p:sp>
      <p:sp>
        <p:nvSpPr>
          <p:cNvPr id="15" name="Text 13"/>
          <p:cNvSpPr/>
          <p:nvPr/>
        </p:nvSpPr>
        <p:spPr>
          <a:xfrm>
            <a:off x="7414379" y="377559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04</a:t>
            </a:r>
            <a:endParaRPr lang="en-US" sz="1550" dirty="0"/>
          </a:p>
        </p:txBody>
      </p:sp>
      <p:sp>
        <p:nvSpPr>
          <p:cNvPr id="16" name="Shape 14"/>
          <p:cNvSpPr/>
          <p:nvPr/>
        </p:nvSpPr>
        <p:spPr>
          <a:xfrm>
            <a:off x="7414379" y="4089916"/>
            <a:ext cx="6422231" cy="22860"/>
          </a:xfrm>
          <a:prstGeom prst="rect">
            <a:avLst/>
          </a:prstGeom>
          <a:solidFill>
            <a:srgbClr val="325F7B"/>
          </a:solidFill>
          <a:ln/>
        </p:spPr>
      </p:sp>
      <p:sp>
        <p:nvSpPr>
          <p:cNvPr id="17" name="Text 15"/>
          <p:cNvSpPr/>
          <p:nvPr/>
        </p:nvSpPr>
        <p:spPr>
          <a:xfrm>
            <a:off x="7414379" y="423481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Feature Engineering</a:t>
            </a:r>
            <a:endParaRPr lang="en-US" sz="1950" dirty="0"/>
          </a:p>
        </p:txBody>
      </p:sp>
      <p:sp>
        <p:nvSpPr>
          <p:cNvPr id="18" name="Text 16"/>
          <p:cNvSpPr/>
          <p:nvPr/>
        </p:nvSpPr>
        <p:spPr>
          <a:xfrm>
            <a:off x="7414379" y="4664035"/>
            <a:ext cx="6422231" cy="65031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Created </a:t>
            </a:r>
            <a:pPr algn="l" indent="0" marL="0">
              <a:lnSpc>
                <a:spcPts val="2500"/>
              </a:lnSpc>
              <a:buNone/>
            </a:pPr>
            <a:r>
              <a:rPr lang="en-US" sz="1550" dirty="0">
                <a:solidFill>
                  <a:srgbClr val="2B4150"/>
                </a:solidFill>
                <a:highlight>
                  <a:srgbClr val="F2EFE8"/>
                </a:highlight>
                <a:latin typeface="Consolas" pitchFamily="34" charset="0"/>
                <a:ea typeface="Consolas" pitchFamily="34" charset="-122"/>
                <a:cs typeface="Consolas" pitchFamily="34" charset="-120"/>
              </a:rPr>
              <a:t>age_group</a:t>
            </a:r>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 by binning customer ages and </a:t>
            </a:r>
            <a:pPr algn="l" indent="0" marL="0">
              <a:lnSpc>
                <a:spcPts val="2500"/>
              </a:lnSpc>
              <a:buNone/>
            </a:pPr>
            <a:r>
              <a:rPr lang="en-US" sz="1550" dirty="0">
                <a:solidFill>
                  <a:srgbClr val="2B4150"/>
                </a:solidFill>
                <a:highlight>
                  <a:srgbClr val="F2EFE8"/>
                </a:highlight>
                <a:latin typeface="Consolas" pitchFamily="34" charset="0"/>
                <a:ea typeface="Consolas" pitchFamily="34" charset="-122"/>
                <a:cs typeface="Consolas" pitchFamily="34" charset="-120"/>
              </a:rPr>
              <a:t>purchase_frequency_days</a:t>
            </a:r>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 from purchase data.</a:t>
            </a:r>
            <a:endParaRPr lang="en-US" sz="1550" dirty="0"/>
          </a:p>
        </p:txBody>
      </p:sp>
      <p:sp>
        <p:nvSpPr>
          <p:cNvPr id="19" name="Text 17"/>
          <p:cNvSpPr/>
          <p:nvPr/>
        </p:nvSpPr>
        <p:spPr>
          <a:xfrm>
            <a:off x="793790" y="566154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05</a:t>
            </a:r>
            <a:endParaRPr lang="en-US" sz="1550" dirty="0"/>
          </a:p>
        </p:txBody>
      </p:sp>
      <p:sp>
        <p:nvSpPr>
          <p:cNvPr id="20" name="Shape 18"/>
          <p:cNvSpPr/>
          <p:nvPr/>
        </p:nvSpPr>
        <p:spPr>
          <a:xfrm>
            <a:off x="793790" y="5975866"/>
            <a:ext cx="6422231" cy="22860"/>
          </a:xfrm>
          <a:prstGeom prst="rect">
            <a:avLst/>
          </a:prstGeom>
          <a:solidFill>
            <a:srgbClr val="325F7B"/>
          </a:solidFill>
          <a:ln/>
        </p:spPr>
      </p:sp>
      <p:sp>
        <p:nvSpPr>
          <p:cNvPr id="21" name="Text 19"/>
          <p:cNvSpPr/>
          <p:nvPr/>
        </p:nvSpPr>
        <p:spPr>
          <a:xfrm>
            <a:off x="793790" y="6120765"/>
            <a:ext cx="2811661"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Data Consistency Check</a:t>
            </a:r>
            <a:endParaRPr lang="en-US" sz="1950" dirty="0"/>
          </a:p>
        </p:txBody>
      </p:sp>
      <p:sp>
        <p:nvSpPr>
          <p:cNvPr id="22" name="Text 20"/>
          <p:cNvSpPr/>
          <p:nvPr/>
        </p:nvSpPr>
        <p:spPr>
          <a:xfrm>
            <a:off x="793790" y="6549985"/>
            <a:ext cx="6422231" cy="65031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Verified </a:t>
            </a:r>
            <a:pPr algn="l" indent="0" marL="0">
              <a:lnSpc>
                <a:spcPts val="2500"/>
              </a:lnSpc>
              <a:buNone/>
            </a:pPr>
            <a:r>
              <a:rPr lang="en-US" sz="1550" dirty="0">
                <a:solidFill>
                  <a:srgbClr val="2B4150"/>
                </a:solidFill>
                <a:highlight>
                  <a:srgbClr val="F2EFE8"/>
                </a:highlight>
                <a:latin typeface="Consolas" pitchFamily="34" charset="0"/>
                <a:ea typeface="Consolas" pitchFamily="34" charset="-122"/>
                <a:cs typeface="Consolas" pitchFamily="34" charset="-120"/>
              </a:rPr>
              <a:t>discount_applied</a:t>
            </a:r>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 and </a:t>
            </a:r>
            <a:pPr algn="l" indent="0" marL="0">
              <a:lnSpc>
                <a:spcPts val="2500"/>
              </a:lnSpc>
              <a:buNone/>
            </a:pPr>
            <a:r>
              <a:rPr lang="en-US" sz="1550" dirty="0">
                <a:solidFill>
                  <a:srgbClr val="2B4150"/>
                </a:solidFill>
                <a:highlight>
                  <a:srgbClr val="F2EFE8"/>
                </a:highlight>
                <a:latin typeface="Consolas" pitchFamily="34" charset="0"/>
                <a:ea typeface="Consolas" pitchFamily="34" charset="-122"/>
                <a:cs typeface="Consolas" pitchFamily="34" charset="-120"/>
              </a:rPr>
              <a:t>promo_code_used</a:t>
            </a:r>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 were redundant; dropped </a:t>
            </a:r>
            <a:pPr algn="l" indent="0" marL="0">
              <a:lnSpc>
                <a:spcPts val="2500"/>
              </a:lnSpc>
              <a:buNone/>
            </a:pPr>
            <a:r>
              <a:rPr lang="en-US" sz="1550" dirty="0">
                <a:solidFill>
                  <a:srgbClr val="2B4150"/>
                </a:solidFill>
                <a:highlight>
                  <a:srgbClr val="F2EFE8"/>
                </a:highlight>
                <a:latin typeface="Consolas" pitchFamily="34" charset="0"/>
                <a:ea typeface="Consolas" pitchFamily="34" charset="-122"/>
                <a:cs typeface="Consolas" pitchFamily="34" charset="-120"/>
              </a:rPr>
              <a:t>promo_code_used</a:t>
            </a:r>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 column.</a:t>
            </a:r>
            <a:endParaRPr lang="en-US" sz="1550" dirty="0"/>
          </a:p>
        </p:txBody>
      </p:sp>
      <p:sp>
        <p:nvSpPr>
          <p:cNvPr id="23" name="Text 21"/>
          <p:cNvSpPr/>
          <p:nvPr/>
        </p:nvSpPr>
        <p:spPr>
          <a:xfrm>
            <a:off x="7414379" y="5661541"/>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06</a:t>
            </a:r>
            <a:endParaRPr lang="en-US" sz="1550" dirty="0"/>
          </a:p>
        </p:txBody>
      </p:sp>
      <p:sp>
        <p:nvSpPr>
          <p:cNvPr id="24" name="Shape 22"/>
          <p:cNvSpPr/>
          <p:nvPr/>
        </p:nvSpPr>
        <p:spPr>
          <a:xfrm>
            <a:off x="7414379" y="5975866"/>
            <a:ext cx="6422231" cy="22860"/>
          </a:xfrm>
          <a:prstGeom prst="rect">
            <a:avLst/>
          </a:prstGeom>
          <a:solidFill>
            <a:srgbClr val="325F7B"/>
          </a:solidFill>
          <a:ln/>
        </p:spPr>
      </p:sp>
      <p:sp>
        <p:nvSpPr>
          <p:cNvPr id="25" name="Text 23"/>
          <p:cNvSpPr/>
          <p:nvPr/>
        </p:nvSpPr>
        <p:spPr>
          <a:xfrm>
            <a:off x="7414379" y="6120765"/>
            <a:ext cx="263592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Database Integration</a:t>
            </a:r>
            <a:endParaRPr lang="en-US" sz="1950" dirty="0"/>
          </a:p>
        </p:txBody>
      </p:sp>
      <p:sp>
        <p:nvSpPr>
          <p:cNvPr id="26" name="Text 24"/>
          <p:cNvSpPr/>
          <p:nvPr/>
        </p:nvSpPr>
        <p:spPr>
          <a:xfrm>
            <a:off x="7414379" y="6549985"/>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Connected Python script to PostgreSQL and loaded cleaned DataFrame for SQL analysis.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029658" y="687348"/>
            <a:ext cx="4658082" cy="418862"/>
          </a:xfrm>
          <a:prstGeom prst="rect">
            <a:avLst/>
          </a:prstGeom>
          <a:noFill/>
          <a:ln/>
        </p:spPr>
        <p:txBody>
          <a:bodyPr wrap="none" lIns="0" tIns="0" rIns="0" bIns="0" rtlCol="0" anchor="t"/>
          <a:lstStyle/>
          <a:p>
            <a:pPr algn="l" indent="0" marL="0">
              <a:lnSpc>
                <a:spcPts val="3250"/>
              </a:lnSpc>
              <a:buNone/>
            </a:pPr>
            <a:r>
              <a:rPr lang="en-US" sz="2600" dirty="0">
                <a:solidFill>
                  <a:srgbClr val="124E73"/>
                </a:solidFill>
                <a:latin typeface="MuseoModerno Medium" pitchFamily="34" charset="0"/>
                <a:ea typeface="MuseoModerno Medium" pitchFamily="34" charset="-122"/>
                <a:cs typeface="MuseoModerno Medium" pitchFamily="34" charset="-120"/>
              </a:rPr>
              <a:t>Revenue by Gender Analysis</a:t>
            </a:r>
            <a:endParaRPr lang="en-US" sz="2600" dirty="0"/>
          </a:p>
        </p:txBody>
      </p:sp>
      <p:sp>
        <p:nvSpPr>
          <p:cNvPr id="3" name="Text 1"/>
          <p:cNvSpPr/>
          <p:nvPr/>
        </p:nvSpPr>
        <p:spPr>
          <a:xfrm>
            <a:off x="4311015" y="2215039"/>
            <a:ext cx="1648778" cy="335042"/>
          </a:xfrm>
          <a:prstGeom prst="rect">
            <a:avLst/>
          </a:prstGeom>
          <a:noFill/>
          <a:ln/>
        </p:spPr>
        <p:txBody>
          <a:bodyPr wrap="none" lIns="0" tIns="0" rIns="0" bIns="0" rtlCol="0" anchor="t"/>
          <a:lstStyle/>
          <a:p>
            <a:pPr algn="ctr" indent="0" marL="0">
              <a:lnSpc>
                <a:spcPts val="2600"/>
              </a:lnSpc>
              <a:buNone/>
            </a:pPr>
            <a:r>
              <a:rPr lang="en-US" sz="2600" dirty="0">
                <a:solidFill>
                  <a:srgbClr val="2B4150"/>
                </a:solidFill>
                <a:latin typeface="MuseoModerno Medium" pitchFamily="34" charset="0"/>
                <a:ea typeface="MuseoModerno Medium" pitchFamily="34" charset="-122"/>
                <a:cs typeface="MuseoModerno Medium" pitchFamily="34" charset="-120"/>
              </a:rPr>
              <a:t>33%</a:t>
            </a:r>
            <a:endParaRPr lang="en-US" sz="2600" dirty="0"/>
          </a:p>
        </p:txBody>
      </p:sp>
      <p:pic>
        <p:nvPicPr>
          <p:cNvPr id="4" name="Image 0" descr="preencoded.png">    </p:cNvPr>
          <p:cNvPicPr>
            <a:picLocks noChangeAspect="1"/>
          </p:cNvPicPr>
          <p:nvPr/>
        </p:nvPicPr>
        <p:blipFill>
          <a:blip r:embed="rId1"/>
          <a:stretch>
            <a:fillRect/>
          </a:stretch>
        </p:blipFill>
        <p:spPr>
          <a:xfrm>
            <a:off x="4130159" y="1377196"/>
            <a:ext cx="2010728" cy="2010728"/>
          </a:xfrm>
          <a:prstGeom prst="rect">
            <a:avLst/>
          </a:prstGeom>
        </p:spPr>
      </p:pic>
      <p:sp>
        <p:nvSpPr>
          <p:cNvPr id="5" name="Text 2"/>
          <p:cNvSpPr/>
          <p:nvPr/>
        </p:nvSpPr>
        <p:spPr>
          <a:xfrm>
            <a:off x="4297799" y="3511868"/>
            <a:ext cx="1675567" cy="209312"/>
          </a:xfrm>
          <a:prstGeom prst="rect">
            <a:avLst/>
          </a:prstGeom>
          <a:noFill/>
          <a:ln/>
        </p:spPr>
        <p:txBody>
          <a:bodyPr wrap="none" lIns="0" tIns="0" rIns="0" bIns="0" rtlCol="0" anchor="t"/>
          <a:lstStyle/>
          <a:p>
            <a:pPr algn="ctr" indent="0" marL="0">
              <a:lnSpc>
                <a:spcPts val="1600"/>
              </a:lnSpc>
              <a:buNone/>
            </a:pPr>
            <a:r>
              <a:rPr lang="en-US" sz="1300" dirty="0">
                <a:solidFill>
                  <a:srgbClr val="2B4150"/>
                </a:solidFill>
                <a:latin typeface="MuseoModerno Medium" pitchFamily="34" charset="0"/>
                <a:ea typeface="MuseoModerno Medium" pitchFamily="34" charset="-122"/>
                <a:cs typeface="MuseoModerno Medium" pitchFamily="34" charset="-120"/>
              </a:rPr>
              <a:t>Female Customers</a:t>
            </a:r>
            <a:endParaRPr lang="en-US" sz="1300" dirty="0"/>
          </a:p>
        </p:txBody>
      </p:sp>
      <p:sp>
        <p:nvSpPr>
          <p:cNvPr id="6" name="Text 3"/>
          <p:cNvSpPr/>
          <p:nvPr/>
        </p:nvSpPr>
        <p:spPr>
          <a:xfrm>
            <a:off x="2029658" y="3811667"/>
            <a:ext cx="6211848" cy="179665"/>
          </a:xfrm>
          <a:prstGeom prst="rect">
            <a:avLst/>
          </a:prstGeom>
          <a:noFill/>
          <a:ln/>
        </p:spPr>
        <p:txBody>
          <a:bodyPr wrap="none" lIns="0" tIns="0" rIns="0" bIns="0" rtlCol="0" anchor="t"/>
          <a:lstStyle/>
          <a:p>
            <a:pPr algn="ctr" indent="0" marL="0">
              <a:lnSpc>
                <a:spcPts val="1400"/>
              </a:lnSpc>
              <a:buNone/>
            </a:pPr>
            <a:r>
              <a:rPr lang="en-US" sz="1050" dirty="0">
                <a:solidFill>
                  <a:srgbClr val="2B4150"/>
                </a:solidFill>
                <a:latin typeface="Source Sans 3" pitchFamily="34" charset="0"/>
                <a:ea typeface="Source Sans 3" pitchFamily="34" charset="-122"/>
                <a:cs typeface="Source Sans 3" pitchFamily="34" charset="-120"/>
              </a:rPr>
              <a:t>$75,191 total revenue</a:t>
            </a:r>
            <a:endParaRPr lang="en-US" sz="1050" dirty="0"/>
          </a:p>
        </p:txBody>
      </p:sp>
      <p:sp>
        <p:nvSpPr>
          <p:cNvPr id="7" name="Text 4"/>
          <p:cNvSpPr/>
          <p:nvPr/>
        </p:nvSpPr>
        <p:spPr>
          <a:xfrm>
            <a:off x="4311015" y="5043607"/>
            <a:ext cx="1648778" cy="335042"/>
          </a:xfrm>
          <a:prstGeom prst="rect">
            <a:avLst/>
          </a:prstGeom>
          <a:noFill/>
          <a:ln/>
        </p:spPr>
        <p:txBody>
          <a:bodyPr wrap="none" lIns="0" tIns="0" rIns="0" bIns="0" rtlCol="0" anchor="t"/>
          <a:lstStyle/>
          <a:p>
            <a:pPr algn="ctr" indent="0" marL="0">
              <a:lnSpc>
                <a:spcPts val="2600"/>
              </a:lnSpc>
              <a:buNone/>
            </a:pPr>
            <a:r>
              <a:rPr lang="en-US" sz="2600" dirty="0">
                <a:solidFill>
                  <a:srgbClr val="2B4150"/>
                </a:solidFill>
                <a:latin typeface="MuseoModerno Medium" pitchFamily="34" charset="0"/>
                <a:ea typeface="MuseoModerno Medium" pitchFamily="34" charset="-122"/>
                <a:cs typeface="MuseoModerno Medium" pitchFamily="34" charset="-120"/>
              </a:rPr>
              <a:t>67%</a:t>
            </a:r>
            <a:endParaRPr lang="en-US" sz="2600" dirty="0"/>
          </a:p>
        </p:txBody>
      </p:sp>
      <p:pic>
        <p:nvPicPr>
          <p:cNvPr id="8" name="Image 1" descr="preencoded.png">    </p:cNvPr>
          <p:cNvPicPr>
            <a:picLocks noChangeAspect="1"/>
          </p:cNvPicPr>
          <p:nvPr/>
        </p:nvPicPr>
        <p:blipFill>
          <a:blip r:embed="rId2"/>
          <a:stretch>
            <a:fillRect/>
          </a:stretch>
        </p:blipFill>
        <p:spPr>
          <a:xfrm>
            <a:off x="4130159" y="4205764"/>
            <a:ext cx="2010728" cy="2010728"/>
          </a:xfrm>
          <a:prstGeom prst="rect">
            <a:avLst/>
          </a:prstGeom>
        </p:spPr>
      </p:pic>
      <p:sp>
        <p:nvSpPr>
          <p:cNvPr id="9" name="Text 5"/>
          <p:cNvSpPr/>
          <p:nvPr/>
        </p:nvSpPr>
        <p:spPr>
          <a:xfrm>
            <a:off x="4297799" y="6340435"/>
            <a:ext cx="1675567" cy="209312"/>
          </a:xfrm>
          <a:prstGeom prst="rect">
            <a:avLst/>
          </a:prstGeom>
          <a:noFill/>
          <a:ln/>
        </p:spPr>
        <p:txBody>
          <a:bodyPr wrap="none" lIns="0" tIns="0" rIns="0" bIns="0" rtlCol="0" anchor="t"/>
          <a:lstStyle/>
          <a:p>
            <a:pPr algn="ctr" indent="0" marL="0">
              <a:lnSpc>
                <a:spcPts val="1600"/>
              </a:lnSpc>
              <a:buNone/>
            </a:pPr>
            <a:r>
              <a:rPr lang="en-US" sz="1300" dirty="0">
                <a:solidFill>
                  <a:srgbClr val="2B4150"/>
                </a:solidFill>
                <a:latin typeface="MuseoModerno Medium" pitchFamily="34" charset="0"/>
                <a:ea typeface="MuseoModerno Medium" pitchFamily="34" charset="-122"/>
                <a:cs typeface="MuseoModerno Medium" pitchFamily="34" charset="-120"/>
              </a:rPr>
              <a:t>Male Customers</a:t>
            </a:r>
            <a:endParaRPr lang="en-US" sz="1300" dirty="0"/>
          </a:p>
        </p:txBody>
      </p:sp>
      <p:sp>
        <p:nvSpPr>
          <p:cNvPr id="10" name="Text 6"/>
          <p:cNvSpPr/>
          <p:nvPr/>
        </p:nvSpPr>
        <p:spPr>
          <a:xfrm>
            <a:off x="2029658" y="6640235"/>
            <a:ext cx="6211848" cy="179665"/>
          </a:xfrm>
          <a:prstGeom prst="rect">
            <a:avLst/>
          </a:prstGeom>
          <a:noFill/>
          <a:ln/>
        </p:spPr>
        <p:txBody>
          <a:bodyPr wrap="none" lIns="0" tIns="0" rIns="0" bIns="0" rtlCol="0" anchor="t"/>
          <a:lstStyle/>
          <a:p>
            <a:pPr algn="ctr" indent="0" marL="0">
              <a:lnSpc>
                <a:spcPts val="1400"/>
              </a:lnSpc>
              <a:buNone/>
            </a:pPr>
            <a:r>
              <a:rPr lang="en-US" sz="1050" dirty="0">
                <a:solidFill>
                  <a:srgbClr val="2B4150"/>
                </a:solidFill>
                <a:latin typeface="Source Sans 3" pitchFamily="34" charset="0"/>
                <a:ea typeface="Source Sans 3" pitchFamily="34" charset="-122"/>
                <a:cs typeface="Source Sans 3" pitchFamily="34" charset="-120"/>
              </a:rPr>
              <a:t>$157,890 total revenue</a:t>
            </a:r>
            <a:endParaRPr lang="en-US" sz="1050" dirty="0"/>
          </a:p>
        </p:txBody>
      </p:sp>
      <p:sp>
        <p:nvSpPr>
          <p:cNvPr id="11" name="Text 7"/>
          <p:cNvSpPr/>
          <p:nvPr/>
        </p:nvSpPr>
        <p:spPr>
          <a:xfrm>
            <a:off x="2029658" y="6921698"/>
            <a:ext cx="6211848" cy="538996"/>
          </a:xfrm>
          <a:prstGeom prst="rect">
            <a:avLst/>
          </a:prstGeom>
          <a:noFill/>
          <a:ln/>
        </p:spPr>
        <p:txBody>
          <a:bodyPr wrap="square" lIns="0" tIns="0" rIns="0" bIns="0" rtlCol="0" anchor="t"/>
          <a:lstStyle/>
          <a:p>
            <a:pPr algn="l" indent="0" marL="0">
              <a:lnSpc>
                <a:spcPts val="1400"/>
              </a:lnSpc>
              <a:buNone/>
            </a:pPr>
            <a:r>
              <a:rPr lang="en-US" sz="1050" dirty="0">
                <a:solidFill>
                  <a:srgbClr val="2B4150"/>
                </a:solidFill>
                <a:latin typeface="Source Sans 3" pitchFamily="34" charset="0"/>
                <a:ea typeface="Source Sans 3" pitchFamily="34" charset="-122"/>
                <a:cs typeface="Source Sans 3" pitchFamily="34" charset="-120"/>
              </a:rPr>
              <a:t>Male customers generated nearly double the revenue of female customers, representing 67% of total sales. This significant disparity suggests potential opportunities for targeted marketing campaigns to increase female customer engagement and spending.</a:t>
            </a:r>
            <a:endParaRPr lang="en-US" sz="1050" dirty="0"/>
          </a:p>
        </p:txBody>
      </p:sp>
      <p:pic>
        <p:nvPicPr>
          <p:cNvPr id="12" name="Image 2" descr="preencoded.png">    </p:cNvPr>
          <p:cNvPicPr>
            <a:picLocks noChangeAspect="1"/>
          </p:cNvPicPr>
          <p:nvPr/>
        </p:nvPicPr>
        <p:blipFill>
          <a:blip r:embed="rId3"/>
          <a:stretch>
            <a:fillRect/>
          </a:stretch>
        </p:blipFill>
        <p:spPr>
          <a:xfrm>
            <a:off x="8576072" y="1343739"/>
            <a:ext cx="4032171" cy="40321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68191" y="574000"/>
            <a:ext cx="6927771" cy="600194"/>
          </a:xfrm>
          <a:prstGeom prst="rect">
            <a:avLst/>
          </a:prstGeom>
          <a:noFill/>
          <a:ln/>
        </p:spPr>
        <p:txBody>
          <a:bodyPr wrap="none" lIns="0" tIns="0" rIns="0" bIns="0" rtlCol="0" anchor="t"/>
          <a:lstStyle/>
          <a:p>
            <a:pPr algn="l" indent="0" marL="0">
              <a:lnSpc>
                <a:spcPts val="4700"/>
              </a:lnSpc>
              <a:buNone/>
            </a:pPr>
            <a:r>
              <a:rPr lang="en-US" sz="3750" dirty="0">
                <a:solidFill>
                  <a:srgbClr val="124E73"/>
                </a:solidFill>
                <a:latin typeface="MuseoModerno Medium" pitchFamily="34" charset="0"/>
                <a:ea typeface="MuseoModerno Medium" pitchFamily="34" charset="-122"/>
                <a:cs typeface="MuseoModerno Medium" pitchFamily="34" charset="-120"/>
              </a:rPr>
              <a:t>Product Performance Insights</a:t>
            </a:r>
            <a:endParaRPr lang="en-US" sz="3750" dirty="0"/>
          </a:p>
        </p:txBody>
      </p:sp>
      <p:sp>
        <p:nvSpPr>
          <p:cNvPr id="4" name="Shape 1"/>
          <p:cNvSpPr/>
          <p:nvPr/>
        </p:nvSpPr>
        <p:spPr>
          <a:xfrm>
            <a:off x="768191" y="1452920"/>
            <a:ext cx="3710821" cy="3329226"/>
          </a:xfrm>
          <a:prstGeom prst="roundRect">
            <a:avLst>
              <a:gd name="adj" fmla="val 865"/>
            </a:avLst>
          </a:prstGeom>
          <a:solidFill>
            <a:srgbClr val="F3EEE3"/>
          </a:solidFill>
          <a:ln/>
        </p:spPr>
      </p:sp>
      <p:sp>
        <p:nvSpPr>
          <p:cNvPr id="5" name="Shape 2"/>
          <p:cNvSpPr/>
          <p:nvPr/>
        </p:nvSpPr>
        <p:spPr>
          <a:xfrm>
            <a:off x="960239" y="1644968"/>
            <a:ext cx="576143" cy="576143"/>
          </a:xfrm>
          <a:prstGeom prst="roundRect">
            <a:avLst>
              <a:gd name="adj" fmla="val 15869473"/>
            </a:avLst>
          </a:prstGeom>
          <a:solidFill>
            <a:srgbClr val="325F7B"/>
          </a:solidFill>
          <a:ln/>
        </p:spPr>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8711" y="1803321"/>
            <a:ext cx="259199" cy="259199"/>
          </a:xfrm>
          <a:prstGeom prst="rect">
            <a:avLst/>
          </a:prstGeom>
        </p:spPr>
      </p:pic>
      <p:sp>
        <p:nvSpPr>
          <p:cNvPr id="7" name="Text 3"/>
          <p:cNvSpPr/>
          <p:nvPr/>
        </p:nvSpPr>
        <p:spPr>
          <a:xfrm>
            <a:off x="960239" y="2406968"/>
            <a:ext cx="2400895" cy="300157"/>
          </a:xfrm>
          <a:prstGeom prst="rect">
            <a:avLst/>
          </a:prstGeom>
          <a:noFill/>
          <a:ln/>
        </p:spPr>
        <p:txBody>
          <a:bodyPr wrap="none" lIns="0" tIns="0" rIns="0" bIns="0" rtlCol="0" anchor="t"/>
          <a:lstStyle/>
          <a:p>
            <a:pPr algn="l" indent="0" marL="0">
              <a:lnSpc>
                <a:spcPts val="2350"/>
              </a:lnSpc>
              <a:buNone/>
            </a:pPr>
            <a:r>
              <a:rPr lang="en-US" sz="1850" dirty="0">
                <a:solidFill>
                  <a:srgbClr val="2B4150"/>
                </a:solidFill>
                <a:latin typeface="MuseoModerno Medium" pitchFamily="34" charset="0"/>
                <a:ea typeface="MuseoModerno Medium" pitchFamily="34" charset="-122"/>
                <a:cs typeface="MuseoModerno Medium" pitchFamily="34" charset="-120"/>
              </a:rPr>
              <a:t>Top Rated Products</a:t>
            </a:r>
            <a:endParaRPr lang="en-US" sz="1850" dirty="0"/>
          </a:p>
        </p:txBody>
      </p:sp>
      <p:sp>
        <p:nvSpPr>
          <p:cNvPr id="8" name="Text 4"/>
          <p:cNvSpPr/>
          <p:nvPr/>
        </p:nvSpPr>
        <p:spPr>
          <a:xfrm>
            <a:off x="960239" y="2818567"/>
            <a:ext cx="3326725" cy="1771531"/>
          </a:xfrm>
          <a:prstGeom prst="rect">
            <a:avLst/>
          </a:prstGeom>
          <a:noFill/>
          <a:ln/>
        </p:spPr>
        <p:txBody>
          <a:bodyPr wrap="square" lIns="0" tIns="0" rIns="0" bIns="0" rtlCol="0" anchor="t"/>
          <a:lstStyle/>
          <a:p>
            <a:pPr algn="l" marL="342900" indent="-342900">
              <a:lnSpc>
                <a:spcPts val="2350"/>
              </a:lnSpc>
              <a:buSzPct val="100000"/>
              <a:buChar char="•"/>
            </a:pPr>
            <a:r>
              <a:rPr lang="en-US" sz="1500" dirty="0">
                <a:solidFill>
                  <a:srgbClr val="2B4150"/>
                </a:solidFill>
                <a:latin typeface="Source Sans 3" pitchFamily="34" charset="0"/>
                <a:ea typeface="Source Sans 3" pitchFamily="34" charset="-122"/>
                <a:cs typeface="Source Sans 3" pitchFamily="34" charset="-120"/>
              </a:rPr>
              <a:t>Gloves (3.86 avg)</a:t>
            </a:r>
            <a:endParaRPr lang="en-US" sz="1500" dirty="0"/>
          </a:p>
          <a:p>
            <a:pPr algn="l" marL="342900" indent="-342900">
              <a:lnSpc>
                <a:spcPts val="2350"/>
              </a:lnSpc>
              <a:buSzPct val="100000"/>
              <a:buChar char="•"/>
            </a:pPr>
            <a:r>
              <a:rPr lang="en-US" sz="1500" dirty="0">
                <a:solidFill>
                  <a:srgbClr val="2B4150"/>
                </a:solidFill>
                <a:latin typeface="Source Sans 3" pitchFamily="34" charset="0"/>
                <a:ea typeface="Source Sans 3" pitchFamily="34" charset="-122"/>
                <a:cs typeface="Source Sans 3" pitchFamily="34" charset="-120"/>
              </a:rPr>
              <a:t>Sandals (3.84 avg)</a:t>
            </a:r>
            <a:endParaRPr lang="en-US" sz="1500" dirty="0"/>
          </a:p>
          <a:p>
            <a:pPr algn="l" marL="342900" indent="-342900">
              <a:lnSpc>
                <a:spcPts val="2350"/>
              </a:lnSpc>
              <a:buSzPct val="100000"/>
              <a:buChar char="•"/>
            </a:pPr>
            <a:r>
              <a:rPr lang="en-US" sz="1500" dirty="0">
                <a:solidFill>
                  <a:srgbClr val="2B4150"/>
                </a:solidFill>
                <a:latin typeface="Source Sans 3" pitchFamily="34" charset="0"/>
                <a:ea typeface="Source Sans 3" pitchFamily="34" charset="-122"/>
                <a:cs typeface="Source Sans 3" pitchFamily="34" charset="-120"/>
              </a:rPr>
              <a:t>Boots (3.82 avg)</a:t>
            </a:r>
            <a:endParaRPr lang="en-US" sz="1500" dirty="0"/>
          </a:p>
          <a:p>
            <a:pPr algn="l" marL="342900" indent="-342900">
              <a:lnSpc>
                <a:spcPts val="2350"/>
              </a:lnSpc>
              <a:buSzPct val="100000"/>
              <a:buChar char="•"/>
            </a:pPr>
            <a:r>
              <a:rPr lang="en-US" sz="1500" dirty="0">
                <a:solidFill>
                  <a:srgbClr val="2B4150"/>
                </a:solidFill>
                <a:latin typeface="Source Sans 3" pitchFamily="34" charset="0"/>
                <a:ea typeface="Source Sans 3" pitchFamily="34" charset="-122"/>
                <a:cs typeface="Source Sans 3" pitchFamily="34" charset="-120"/>
              </a:rPr>
              <a:t>Hat (3.80 avg)</a:t>
            </a:r>
            <a:endParaRPr lang="en-US" sz="1500" dirty="0"/>
          </a:p>
          <a:p>
            <a:pPr algn="l" marL="342900" indent="-342900">
              <a:lnSpc>
                <a:spcPts val="2350"/>
              </a:lnSpc>
              <a:buSzPct val="100000"/>
              <a:buChar char="•"/>
            </a:pPr>
            <a:r>
              <a:rPr lang="en-US" sz="1500" dirty="0">
                <a:solidFill>
                  <a:srgbClr val="2B4150"/>
                </a:solidFill>
                <a:latin typeface="Source Sans 3" pitchFamily="34" charset="0"/>
                <a:ea typeface="Source Sans 3" pitchFamily="34" charset="-122"/>
                <a:cs typeface="Source Sans 3" pitchFamily="34" charset="-120"/>
              </a:rPr>
              <a:t>Skirt (3.78 avg)</a:t>
            </a:r>
            <a:endParaRPr lang="en-US" sz="1500" dirty="0"/>
          </a:p>
        </p:txBody>
      </p:sp>
      <p:sp>
        <p:nvSpPr>
          <p:cNvPr id="9" name="Shape 5"/>
          <p:cNvSpPr/>
          <p:nvPr/>
        </p:nvSpPr>
        <p:spPr>
          <a:xfrm>
            <a:off x="4664869" y="1452920"/>
            <a:ext cx="3710940" cy="3329226"/>
          </a:xfrm>
          <a:prstGeom prst="roundRect">
            <a:avLst>
              <a:gd name="adj" fmla="val 865"/>
            </a:avLst>
          </a:prstGeom>
          <a:solidFill>
            <a:srgbClr val="F3EEE3"/>
          </a:solidFill>
          <a:ln/>
        </p:spPr>
      </p:sp>
      <p:sp>
        <p:nvSpPr>
          <p:cNvPr id="10" name="Shape 6"/>
          <p:cNvSpPr/>
          <p:nvPr/>
        </p:nvSpPr>
        <p:spPr>
          <a:xfrm>
            <a:off x="4856917" y="1644968"/>
            <a:ext cx="576143" cy="576143"/>
          </a:xfrm>
          <a:prstGeom prst="roundRect">
            <a:avLst>
              <a:gd name="adj" fmla="val 15869473"/>
            </a:avLst>
          </a:prstGeom>
          <a:solidFill>
            <a:srgbClr val="325F7B"/>
          </a:solidFill>
          <a:ln/>
        </p:spPr>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15389" y="1803321"/>
            <a:ext cx="259199" cy="259199"/>
          </a:xfrm>
          <a:prstGeom prst="rect">
            <a:avLst/>
          </a:prstGeom>
        </p:spPr>
      </p:pic>
      <p:sp>
        <p:nvSpPr>
          <p:cNvPr id="12" name="Text 7"/>
          <p:cNvSpPr/>
          <p:nvPr/>
        </p:nvSpPr>
        <p:spPr>
          <a:xfrm>
            <a:off x="4856917" y="2406968"/>
            <a:ext cx="3142774" cy="300157"/>
          </a:xfrm>
          <a:prstGeom prst="rect">
            <a:avLst/>
          </a:prstGeom>
          <a:noFill/>
          <a:ln/>
        </p:spPr>
        <p:txBody>
          <a:bodyPr wrap="none" lIns="0" tIns="0" rIns="0" bIns="0" rtlCol="0" anchor="t"/>
          <a:lstStyle/>
          <a:p>
            <a:pPr algn="l" indent="0" marL="0">
              <a:lnSpc>
                <a:spcPts val="2350"/>
              </a:lnSpc>
              <a:buNone/>
            </a:pPr>
            <a:r>
              <a:rPr lang="en-US" sz="1850" dirty="0">
                <a:solidFill>
                  <a:srgbClr val="2B4150"/>
                </a:solidFill>
                <a:latin typeface="MuseoModerno Medium" pitchFamily="34" charset="0"/>
                <a:ea typeface="MuseoModerno Medium" pitchFamily="34" charset="-122"/>
                <a:cs typeface="MuseoModerno Medium" pitchFamily="34" charset="-120"/>
              </a:rPr>
              <a:t>Discount-Dependent Items</a:t>
            </a:r>
            <a:endParaRPr lang="en-US" sz="1850" dirty="0"/>
          </a:p>
        </p:txBody>
      </p:sp>
      <p:sp>
        <p:nvSpPr>
          <p:cNvPr id="13" name="Text 8"/>
          <p:cNvSpPr/>
          <p:nvPr/>
        </p:nvSpPr>
        <p:spPr>
          <a:xfrm>
            <a:off x="4856917" y="2818567"/>
            <a:ext cx="3326844" cy="1771531"/>
          </a:xfrm>
          <a:prstGeom prst="rect">
            <a:avLst/>
          </a:prstGeom>
          <a:noFill/>
          <a:ln/>
        </p:spPr>
        <p:txBody>
          <a:bodyPr wrap="square" lIns="0" tIns="0" rIns="0" bIns="0" rtlCol="0" anchor="t"/>
          <a:lstStyle/>
          <a:p>
            <a:pPr algn="l" marL="342900" indent="-342900">
              <a:lnSpc>
                <a:spcPts val="2350"/>
              </a:lnSpc>
              <a:buSzPct val="100000"/>
              <a:buChar char="•"/>
            </a:pPr>
            <a:r>
              <a:rPr lang="en-US" sz="1500" dirty="0">
                <a:solidFill>
                  <a:srgbClr val="2B4150"/>
                </a:solidFill>
                <a:latin typeface="Source Sans 3" pitchFamily="34" charset="0"/>
                <a:ea typeface="Source Sans 3" pitchFamily="34" charset="-122"/>
                <a:cs typeface="Source Sans 3" pitchFamily="34" charset="-120"/>
              </a:rPr>
              <a:t>Hat (50% discounted)</a:t>
            </a:r>
            <a:endParaRPr lang="en-US" sz="1500" dirty="0"/>
          </a:p>
          <a:p>
            <a:pPr algn="l" marL="342900" indent="-342900">
              <a:lnSpc>
                <a:spcPts val="2350"/>
              </a:lnSpc>
              <a:buSzPct val="100000"/>
              <a:buChar char="•"/>
            </a:pPr>
            <a:r>
              <a:rPr lang="en-US" sz="1500" dirty="0">
                <a:solidFill>
                  <a:srgbClr val="2B4150"/>
                </a:solidFill>
                <a:latin typeface="Source Sans 3" pitchFamily="34" charset="0"/>
                <a:ea typeface="Source Sans 3" pitchFamily="34" charset="-122"/>
                <a:cs typeface="Source Sans 3" pitchFamily="34" charset="-120"/>
              </a:rPr>
              <a:t>Sneakers (49.66%)</a:t>
            </a:r>
            <a:endParaRPr lang="en-US" sz="1500" dirty="0"/>
          </a:p>
          <a:p>
            <a:pPr algn="l" marL="342900" indent="-342900">
              <a:lnSpc>
                <a:spcPts val="2350"/>
              </a:lnSpc>
              <a:buSzPct val="100000"/>
              <a:buChar char="•"/>
            </a:pPr>
            <a:r>
              <a:rPr lang="en-US" sz="1500" dirty="0">
                <a:solidFill>
                  <a:srgbClr val="2B4150"/>
                </a:solidFill>
                <a:latin typeface="Source Sans 3" pitchFamily="34" charset="0"/>
                <a:ea typeface="Source Sans 3" pitchFamily="34" charset="-122"/>
                <a:cs typeface="Source Sans 3" pitchFamily="34" charset="-120"/>
              </a:rPr>
              <a:t>Coat (49.07%)</a:t>
            </a:r>
            <a:endParaRPr lang="en-US" sz="1500" dirty="0"/>
          </a:p>
          <a:p>
            <a:pPr algn="l" marL="342900" indent="-342900">
              <a:lnSpc>
                <a:spcPts val="2350"/>
              </a:lnSpc>
              <a:buSzPct val="100000"/>
              <a:buChar char="•"/>
            </a:pPr>
            <a:r>
              <a:rPr lang="en-US" sz="1500" dirty="0">
                <a:solidFill>
                  <a:srgbClr val="2B4150"/>
                </a:solidFill>
                <a:latin typeface="Source Sans 3" pitchFamily="34" charset="0"/>
                <a:ea typeface="Source Sans 3" pitchFamily="34" charset="-122"/>
                <a:cs typeface="Source Sans 3" pitchFamily="34" charset="-120"/>
              </a:rPr>
              <a:t>Sweater (48.17%)</a:t>
            </a:r>
            <a:endParaRPr lang="en-US" sz="1500" dirty="0"/>
          </a:p>
          <a:p>
            <a:pPr algn="l" marL="342900" indent="-342900">
              <a:lnSpc>
                <a:spcPts val="2350"/>
              </a:lnSpc>
              <a:buSzPct val="100000"/>
              <a:buChar char="•"/>
            </a:pPr>
            <a:r>
              <a:rPr lang="en-US" sz="1500" dirty="0">
                <a:solidFill>
                  <a:srgbClr val="2B4150"/>
                </a:solidFill>
                <a:latin typeface="Source Sans 3" pitchFamily="34" charset="0"/>
                <a:ea typeface="Source Sans 3" pitchFamily="34" charset="-122"/>
                <a:cs typeface="Source Sans 3" pitchFamily="34" charset="-120"/>
              </a:rPr>
              <a:t>Pants (47.37%)</a:t>
            </a:r>
            <a:endParaRPr lang="en-US" sz="1500" dirty="0"/>
          </a:p>
        </p:txBody>
      </p:sp>
      <p:sp>
        <p:nvSpPr>
          <p:cNvPr id="14" name="Shape 9"/>
          <p:cNvSpPr/>
          <p:nvPr/>
        </p:nvSpPr>
        <p:spPr>
          <a:xfrm>
            <a:off x="768191" y="4968002"/>
            <a:ext cx="7607618" cy="2687479"/>
          </a:xfrm>
          <a:prstGeom prst="roundRect">
            <a:avLst>
              <a:gd name="adj" fmla="val 1072"/>
            </a:avLst>
          </a:prstGeom>
          <a:solidFill>
            <a:srgbClr val="F3EEE3"/>
          </a:solidFill>
          <a:ln/>
        </p:spPr>
      </p:sp>
      <p:sp>
        <p:nvSpPr>
          <p:cNvPr id="15" name="Shape 10"/>
          <p:cNvSpPr/>
          <p:nvPr/>
        </p:nvSpPr>
        <p:spPr>
          <a:xfrm>
            <a:off x="960239" y="5160050"/>
            <a:ext cx="576143" cy="576143"/>
          </a:xfrm>
          <a:prstGeom prst="roundRect">
            <a:avLst>
              <a:gd name="adj" fmla="val 15869473"/>
            </a:avLst>
          </a:prstGeom>
          <a:solidFill>
            <a:srgbClr val="325F7B"/>
          </a:solidFill>
          <a:ln/>
        </p:spPr>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8711" y="5318403"/>
            <a:ext cx="259199" cy="259199"/>
          </a:xfrm>
          <a:prstGeom prst="rect">
            <a:avLst/>
          </a:prstGeom>
        </p:spPr>
      </p:pic>
      <p:sp>
        <p:nvSpPr>
          <p:cNvPr id="17" name="Text 11"/>
          <p:cNvSpPr/>
          <p:nvPr/>
        </p:nvSpPr>
        <p:spPr>
          <a:xfrm>
            <a:off x="960239" y="5922050"/>
            <a:ext cx="2480548" cy="300157"/>
          </a:xfrm>
          <a:prstGeom prst="rect">
            <a:avLst/>
          </a:prstGeom>
          <a:noFill/>
          <a:ln/>
        </p:spPr>
        <p:txBody>
          <a:bodyPr wrap="none" lIns="0" tIns="0" rIns="0" bIns="0" rtlCol="0" anchor="t"/>
          <a:lstStyle/>
          <a:p>
            <a:pPr algn="l" indent="0" marL="0">
              <a:lnSpc>
                <a:spcPts val="2350"/>
              </a:lnSpc>
              <a:buNone/>
            </a:pPr>
            <a:r>
              <a:rPr lang="en-US" sz="1850" dirty="0">
                <a:solidFill>
                  <a:srgbClr val="2B4150"/>
                </a:solidFill>
                <a:latin typeface="MuseoModerno Medium" pitchFamily="34" charset="0"/>
                <a:ea typeface="MuseoModerno Medium" pitchFamily="34" charset="-122"/>
                <a:cs typeface="MuseoModerno Medium" pitchFamily="34" charset="-120"/>
              </a:rPr>
              <a:t>Shipping Comparison</a:t>
            </a:r>
            <a:endParaRPr lang="en-US" sz="1850" dirty="0"/>
          </a:p>
        </p:txBody>
      </p:sp>
      <p:sp>
        <p:nvSpPr>
          <p:cNvPr id="18" name="Text 12"/>
          <p:cNvSpPr/>
          <p:nvPr/>
        </p:nvSpPr>
        <p:spPr>
          <a:xfrm>
            <a:off x="960239" y="6333649"/>
            <a:ext cx="7223522" cy="302300"/>
          </a:xfrm>
          <a:prstGeom prst="rect">
            <a:avLst/>
          </a:prstGeom>
          <a:noFill/>
          <a:ln/>
        </p:spPr>
        <p:txBody>
          <a:bodyPr wrap="none" lIns="0" tIns="0" rIns="0" bIns="0" rtlCol="0" anchor="t"/>
          <a:lstStyle/>
          <a:p>
            <a:pPr algn="l" indent="0" marL="0">
              <a:lnSpc>
                <a:spcPts val="2350"/>
              </a:lnSpc>
              <a:buNone/>
            </a:pPr>
            <a:r>
              <a:rPr lang="en-US" sz="1500" dirty="0">
                <a:solidFill>
                  <a:srgbClr val="2B4150"/>
                </a:solidFill>
                <a:latin typeface="Source Sans 3" pitchFamily="34" charset="0"/>
                <a:ea typeface="Source Sans 3" pitchFamily="34" charset="-122"/>
                <a:cs typeface="Source Sans 3" pitchFamily="34" charset="-120"/>
              </a:rPr>
              <a:t>Standard shipping: $58.46 avg</a:t>
            </a:r>
            <a:endParaRPr lang="en-US" sz="1500" dirty="0"/>
          </a:p>
        </p:txBody>
      </p:sp>
      <p:sp>
        <p:nvSpPr>
          <p:cNvPr id="19" name="Text 13"/>
          <p:cNvSpPr/>
          <p:nvPr/>
        </p:nvSpPr>
        <p:spPr>
          <a:xfrm>
            <a:off x="960239" y="6747391"/>
            <a:ext cx="7223522" cy="302300"/>
          </a:xfrm>
          <a:prstGeom prst="rect">
            <a:avLst/>
          </a:prstGeom>
          <a:noFill/>
          <a:ln/>
        </p:spPr>
        <p:txBody>
          <a:bodyPr wrap="none" lIns="0" tIns="0" rIns="0" bIns="0" rtlCol="0" anchor="t"/>
          <a:lstStyle/>
          <a:p>
            <a:pPr algn="l" indent="0" marL="0">
              <a:lnSpc>
                <a:spcPts val="2350"/>
              </a:lnSpc>
              <a:buNone/>
            </a:pPr>
            <a:r>
              <a:rPr lang="en-US" sz="1500" dirty="0">
                <a:solidFill>
                  <a:srgbClr val="2B4150"/>
                </a:solidFill>
                <a:latin typeface="Source Sans 3" pitchFamily="34" charset="0"/>
                <a:ea typeface="Source Sans 3" pitchFamily="34" charset="-122"/>
                <a:cs typeface="Source Sans 3" pitchFamily="34" charset="-120"/>
              </a:rPr>
              <a:t>Express shipping: $60.48 avg</a:t>
            </a:r>
            <a:endParaRPr lang="en-US" sz="1500" dirty="0"/>
          </a:p>
        </p:txBody>
      </p:sp>
      <p:sp>
        <p:nvSpPr>
          <p:cNvPr id="20" name="Text 14"/>
          <p:cNvSpPr/>
          <p:nvPr/>
        </p:nvSpPr>
        <p:spPr>
          <a:xfrm>
            <a:off x="960239" y="7161133"/>
            <a:ext cx="7223522" cy="302300"/>
          </a:xfrm>
          <a:prstGeom prst="rect">
            <a:avLst/>
          </a:prstGeom>
          <a:noFill/>
          <a:ln/>
        </p:spPr>
        <p:txBody>
          <a:bodyPr wrap="none" lIns="0" tIns="0" rIns="0" bIns="0" rtlCol="0" anchor="t"/>
          <a:lstStyle/>
          <a:p>
            <a:pPr algn="l" indent="0" marL="0">
              <a:lnSpc>
                <a:spcPts val="2350"/>
              </a:lnSpc>
              <a:buNone/>
            </a:pPr>
            <a:r>
              <a:rPr lang="en-US" sz="1500" dirty="0">
                <a:solidFill>
                  <a:srgbClr val="2B4150"/>
                </a:solidFill>
                <a:latin typeface="Source Sans 3" pitchFamily="34" charset="0"/>
                <a:ea typeface="Source Sans 3" pitchFamily="34" charset="-122"/>
                <a:cs typeface="Source Sans 3" pitchFamily="34" charset="-120"/>
              </a:rPr>
              <a:t>Express customers spend ~3.5% more per purchase.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2233" y="613648"/>
            <a:ext cx="8558808" cy="564356"/>
          </a:xfrm>
          <a:prstGeom prst="rect">
            <a:avLst/>
          </a:prstGeom>
          <a:noFill/>
          <a:ln/>
        </p:spPr>
        <p:txBody>
          <a:bodyPr wrap="none" lIns="0" tIns="0" rIns="0" bIns="0" rtlCol="0" anchor="t"/>
          <a:lstStyle/>
          <a:p>
            <a:pPr algn="l" indent="0" marL="0">
              <a:lnSpc>
                <a:spcPts val="4400"/>
              </a:lnSpc>
              <a:buNone/>
            </a:pPr>
            <a:r>
              <a:rPr lang="en-US" sz="3550" dirty="0">
                <a:solidFill>
                  <a:srgbClr val="124E73"/>
                </a:solidFill>
                <a:latin typeface="MuseoModerno Medium" pitchFamily="34" charset="0"/>
                <a:ea typeface="MuseoModerno Medium" pitchFamily="34" charset="-122"/>
                <a:cs typeface="MuseoModerno Medium" pitchFamily="34" charset="-120"/>
              </a:rPr>
              <a:t>Subscription &amp; Customer Segmentation</a:t>
            </a:r>
            <a:endParaRPr lang="en-US" sz="3550" dirty="0"/>
          </a:p>
        </p:txBody>
      </p:sp>
      <p:sp>
        <p:nvSpPr>
          <p:cNvPr id="3" name="Text 1"/>
          <p:cNvSpPr/>
          <p:nvPr/>
        </p:nvSpPr>
        <p:spPr>
          <a:xfrm>
            <a:off x="2856786" y="2680216"/>
            <a:ext cx="2221111" cy="451366"/>
          </a:xfrm>
          <a:prstGeom prst="rect">
            <a:avLst/>
          </a:prstGeom>
          <a:noFill/>
          <a:ln/>
        </p:spPr>
        <p:txBody>
          <a:bodyPr wrap="none" lIns="0" tIns="0" rIns="0" bIns="0" rtlCol="0" anchor="t"/>
          <a:lstStyle/>
          <a:p>
            <a:pPr algn="ctr" indent="0" marL="0">
              <a:lnSpc>
                <a:spcPts val="3550"/>
              </a:lnSpc>
              <a:buNone/>
            </a:pPr>
            <a:r>
              <a:rPr lang="en-US" sz="3550" dirty="0">
                <a:solidFill>
                  <a:srgbClr val="2B4150"/>
                </a:solidFill>
                <a:latin typeface="MuseoModerno Medium" pitchFamily="34" charset="0"/>
                <a:ea typeface="MuseoModerno Medium" pitchFamily="34" charset="-122"/>
                <a:cs typeface="MuseoModerno Medium" pitchFamily="34" charset="-120"/>
              </a:rPr>
              <a:t>27%</a:t>
            </a:r>
            <a:endParaRPr lang="en-US" sz="3550" dirty="0"/>
          </a:p>
        </p:txBody>
      </p:sp>
      <p:pic>
        <p:nvPicPr>
          <p:cNvPr id="4" name="Image 0" descr="preencoded.png">    </p:cNvPr>
          <p:cNvPicPr>
            <a:picLocks noChangeAspect="1"/>
          </p:cNvPicPr>
          <p:nvPr/>
        </p:nvPicPr>
        <p:blipFill>
          <a:blip r:embed="rId1"/>
          <a:stretch>
            <a:fillRect/>
          </a:stretch>
        </p:blipFill>
        <p:spPr>
          <a:xfrm>
            <a:off x="2613065" y="1551623"/>
            <a:ext cx="2708672" cy="2708672"/>
          </a:xfrm>
          <a:prstGeom prst="rect">
            <a:avLst/>
          </a:prstGeom>
        </p:spPr>
      </p:pic>
      <p:sp>
        <p:nvSpPr>
          <p:cNvPr id="5" name="Text 2"/>
          <p:cNvSpPr/>
          <p:nvPr/>
        </p:nvSpPr>
        <p:spPr>
          <a:xfrm>
            <a:off x="2838807" y="4469606"/>
            <a:ext cx="2257187" cy="282178"/>
          </a:xfrm>
          <a:prstGeom prst="rect">
            <a:avLst/>
          </a:prstGeom>
          <a:noFill/>
          <a:ln/>
        </p:spPr>
        <p:txBody>
          <a:bodyPr wrap="none" lIns="0" tIns="0" rIns="0" bIns="0" rtlCol="0" anchor="t"/>
          <a:lstStyle/>
          <a:p>
            <a:pPr algn="ctr" indent="0" marL="0">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Subscribers</a:t>
            </a:r>
            <a:endParaRPr lang="en-US" sz="1750" dirty="0"/>
          </a:p>
        </p:txBody>
      </p:sp>
      <p:sp>
        <p:nvSpPr>
          <p:cNvPr id="6" name="Text 3"/>
          <p:cNvSpPr/>
          <p:nvPr/>
        </p:nvSpPr>
        <p:spPr>
          <a:xfrm>
            <a:off x="722233" y="4850249"/>
            <a:ext cx="6490335" cy="275868"/>
          </a:xfrm>
          <a:prstGeom prst="rect">
            <a:avLst/>
          </a:prstGeom>
          <a:noFill/>
          <a:ln/>
        </p:spPr>
        <p:txBody>
          <a:bodyPr wrap="none" lIns="0" tIns="0" rIns="0" bIns="0" rtlCol="0" anchor="t"/>
          <a:lstStyle/>
          <a:p>
            <a:pPr algn="ctr"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1,053 customers with active subscriptions</a:t>
            </a:r>
            <a:endParaRPr lang="en-US" sz="1400" dirty="0"/>
          </a:p>
        </p:txBody>
      </p:sp>
      <p:sp>
        <p:nvSpPr>
          <p:cNvPr id="7" name="Text 4"/>
          <p:cNvSpPr/>
          <p:nvPr/>
        </p:nvSpPr>
        <p:spPr>
          <a:xfrm>
            <a:off x="9552384" y="2680216"/>
            <a:ext cx="2221111" cy="451366"/>
          </a:xfrm>
          <a:prstGeom prst="rect">
            <a:avLst/>
          </a:prstGeom>
          <a:noFill/>
          <a:ln/>
        </p:spPr>
        <p:txBody>
          <a:bodyPr wrap="none" lIns="0" tIns="0" rIns="0" bIns="0" rtlCol="0" anchor="t"/>
          <a:lstStyle/>
          <a:p>
            <a:pPr algn="ctr" indent="0" marL="0">
              <a:lnSpc>
                <a:spcPts val="3550"/>
              </a:lnSpc>
              <a:buNone/>
            </a:pPr>
            <a:r>
              <a:rPr lang="en-US" sz="3550" dirty="0">
                <a:solidFill>
                  <a:srgbClr val="2B4150"/>
                </a:solidFill>
                <a:latin typeface="MuseoModerno Medium" pitchFamily="34" charset="0"/>
                <a:ea typeface="MuseoModerno Medium" pitchFamily="34" charset="-122"/>
                <a:cs typeface="MuseoModerno Medium" pitchFamily="34" charset="-120"/>
              </a:rPr>
              <a:t>73%</a:t>
            </a:r>
            <a:endParaRPr lang="en-US" sz="3550" dirty="0"/>
          </a:p>
        </p:txBody>
      </p:sp>
      <p:pic>
        <p:nvPicPr>
          <p:cNvPr id="8" name="Image 1" descr="preencoded.png">    </p:cNvPr>
          <p:cNvPicPr>
            <a:picLocks noChangeAspect="1"/>
          </p:cNvPicPr>
          <p:nvPr/>
        </p:nvPicPr>
        <p:blipFill>
          <a:blip r:embed="rId2"/>
          <a:stretch>
            <a:fillRect/>
          </a:stretch>
        </p:blipFill>
        <p:spPr>
          <a:xfrm>
            <a:off x="9308663" y="1551623"/>
            <a:ext cx="2708672" cy="2708672"/>
          </a:xfrm>
          <a:prstGeom prst="rect">
            <a:avLst/>
          </a:prstGeom>
        </p:spPr>
      </p:pic>
      <p:sp>
        <p:nvSpPr>
          <p:cNvPr id="9" name="Text 5"/>
          <p:cNvSpPr/>
          <p:nvPr/>
        </p:nvSpPr>
        <p:spPr>
          <a:xfrm>
            <a:off x="9534406" y="4469606"/>
            <a:ext cx="2257187" cy="282178"/>
          </a:xfrm>
          <a:prstGeom prst="rect">
            <a:avLst/>
          </a:prstGeom>
          <a:noFill/>
          <a:ln/>
        </p:spPr>
        <p:txBody>
          <a:bodyPr wrap="none" lIns="0" tIns="0" rIns="0" bIns="0" rtlCol="0" anchor="t"/>
          <a:lstStyle/>
          <a:p>
            <a:pPr algn="ctr" indent="0" marL="0">
              <a:lnSpc>
                <a:spcPts val="2200"/>
              </a:lnSpc>
              <a:buNone/>
            </a:pPr>
            <a:r>
              <a:rPr lang="en-US" sz="1750" dirty="0">
                <a:solidFill>
                  <a:srgbClr val="2B4150"/>
                </a:solidFill>
                <a:latin typeface="MuseoModerno Medium" pitchFamily="34" charset="0"/>
                <a:ea typeface="MuseoModerno Medium" pitchFamily="34" charset="-122"/>
                <a:cs typeface="MuseoModerno Medium" pitchFamily="34" charset="-120"/>
              </a:rPr>
              <a:t>Non-Subscribers</a:t>
            </a:r>
            <a:endParaRPr lang="en-US" sz="1750" dirty="0"/>
          </a:p>
        </p:txBody>
      </p:sp>
      <p:sp>
        <p:nvSpPr>
          <p:cNvPr id="10" name="Text 6"/>
          <p:cNvSpPr/>
          <p:nvPr/>
        </p:nvSpPr>
        <p:spPr>
          <a:xfrm>
            <a:off x="7417832" y="4850249"/>
            <a:ext cx="6490335" cy="275868"/>
          </a:xfrm>
          <a:prstGeom prst="rect">
            <a:avLst/>
          </a:prstGeom>
          <a:noFill/>
          <a:ln/>
        </p:spPr>
        <p:txBody>
          <a:bodyPr wrap="none" lIns="0" tIns="0" rIns="0" bIns="0" rtlCol="0" anchor="t"/>
          <a:lstStyle/>
          <a:p>
            <a:pPr algn="ctr"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2,847 customers without subscriptions</a:t>
            </a:r>
            <a:endParaRPr lang="en-US" sz="1400" dirty="0"/>
          </a:p>
        </p:txBody>
      </p:sp>
      <p:sp>
        <p:nvSpPr>
          <p:cNvPr id="11" name="Text 7"/>
          <p:cNvSpPr/>
          <p:nvPr/>
        </p:nvSpPr>
        <p:spPr>
          <a:xfrm>
            <a:off x="722233" y="5475089"/>
            <a:ext cx="2300049" cy="282178"/>
          </a:xfrm>
          <a:prstGeom prst="rect">
            <a:avLst/>
          </a:prstGeom>
          <a:noFill/>
          <a:ln/>
        </p:spPr>
        <p:txBody>
          <a:bodyPr wrap="none" lIns="0" tIns="0" rIns="0" bIns="0" rtlCol="0" anchor="t"/>
          <a:lstStyle/>
          <a:p>
            <a:pPr algn="l" indent="0" marL="0">
              <a:lnSpc>
                <a:spcPts val="2200"/>
              </a:lnSpc>
              <a:buNone/>
            </a:pPr>
            <a:r>
              <a:rPr lang="en-US" sz="1750" dirty="0">
                <a:solidFill>
                  <a:srgbClr val="124E73"/>
                </a:solidFill>
                <a:latin typeface="MuseoModerno Medium" pitchFamily="34" charset="0"/>
                <a:ea typeface="MuseoModerno Medium" pitchFamily="34" charset="-122"/>
                <a:cs typeface="MuseoModerno Medium" pitchFamily="34" charset="-120"/>
              </a:rPr>
              <a:t>Revenue Comparison</a:t>
            </a:r>
            <a:endParaRPr lang="en-US" sz="1750" dirty="0"/>
          </a:p>
        </p:txBody>
      </p:sp>
      <p:sp>
        <p:nvSpPr>
          <p:cNvPr id="12" name="Text 8"/>
          <p:cNvSpPr/>
          <p:nvPr/>
        </p:nvSpPr>
        <p:spPr>
          <a:xfrm>
            <a:off x="722233" y="5921454"/>
            <a:ext cx="6372701" cy="275868"/>
          </a:xfrm>
          <a:prstGeom prst="rect">
            <a:avLst/>
          </a:prstGeom>
          <a:noFill/>
          <a:ln/>
        </p:spPr>
        <p:txBody>
          <a:bodyPr wrap="none" lIns="0" tIns="0" rIns="0" bIns="0" rtlCol="0" anchor="t"/>
          <a:lstStyle/>
          <a:p>
            <a:pPr algn="l"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Subscribers: $62,645 total revenue ($59.49 avg)</a:t>
            </a:r>
            <a:endParaRPr lang="en-US" sz="1400" dirty="0"/>
          </a:p>
        </p:txBody>
      </p:sp>
      <p:sp>
        <p:nvSpPr>
          <p:cNvPr id="13" name="Text 9"/>
          <p:cNvSpPr/>
          <p:nvPr/>
        </p:nvSpPr>
        <p:spPr>
          <a:xfrm>
            <a:off x="722233" y="6345079"/>
            <a:ext cx="6372701" cy="275868"/>
          </a:xfrm>
          <a:prstGeom prst="rect">
            <a:avLst/>
          </a:prstGeom>
          <a:noFill/>
          <a:ln/>
        </p:spPr>
        <p:txBody>
          <a:bodyPr wrap="none" lIns="0" tIns="0" rIns="0" bIns="0" rtlCol="0" anchor="t"/>
          <a:lstStyle/>
          <a:p>
            <a:pPr algn="l"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Non-subscribers: $170,436 total revenue ($59.87 avg)</a:t>
            </a:r>
            <a:endParaRPr lang="en-US" sz="1400" dirty="0"/>
          </a:p>
        </p:txBody>
      </p:sp>
      <p:sp>
        <p:nvSpPr>
          <p:cNvPr id="14" name="Text 10"/>
          <p:cNvSpPr/>
          <p:nvPr/>
        </p:nvSpPr>
        <p:spPr>
          <a:xfrm>
            <a:off x="722233" y="6768703"/>
            <a:ext cx="6372701" cy="551736"/>
          </a:xfrm>
          <a:prstGeom prst="rect">
            <a:avLst/>
          </a:prstGeom>
          <a:noFill/>
          <a:ln/>
        </p:spPr>
        <p:txBody>
          <a:bodyPr wrap="square" lIns="0" tIns="0" rIns="0" bIns="0" rtlCol="0" anchor="t"/>
          <a:lstStyle/>
          <a:p>
            <a:pPr algn="l"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Non-subscribers generate 2.7x more total revenue despite similar average purchase amounts.</a:t>
            </a:r>
            <a:endParaRPr lang="en-US" sz="1400" dirty="0"/>
          </a:p>
        </p:txBody>
      </p:sp>
      <p:sp>
        <p:nvSpPr>
          <p:cNvPr id="15" name="Text 11"/>
          <p:cNvSpPr/>
          <p:nvPr/>
        </p:nvSpPr>
        <p:spPr>
          <a:xfrm>
            <a:off x="7543086" y="5475089"/>
            <a:ext cx="2257187" cy="282178"/>
          </a:xfrm>
          <a:prstGeom prst="rect">
            <a:avLst/>
          </a:prstGeom>
          <a:noFill/>
          <a:ln/>
        </p:spPr>
        <p:txBody>
          <a:bodyPr wrap="none" lIns="0" tIns="0" rIns="0" bIns="0" rtlCol="0" anchor="t"/>
          <a:lstStyle/>
          <a:p>
            <a:pPr algn="l" indent="0" marL="0">
              <a:lnSpc>
                <a:spcPts val="2200"/>
              </a:lnSpc>
              <a:buNone/>
            </a:pPr>
            <a:r>
              <a:rPr lang="en-US" sz="1750" dirty="0">
                <a:solidFill>
                  <a:srgbClr val="124E73"/>
                </a:solidFill>
                <a:latin typeface="MuseoModerno Medium" pitchFamily="34" charset="0"/>
                <a:ea typeface="MuseoModerno Medium" pitchFamily="34" charset="-122"/>
                <a:cs typeface="MuseoModerno Medium" pitchFamily="34" charset="-120"/>
              </a:rPr>
              <a:t>Customer Segments</a:t>
            </a:r>
            <a:endParaRPr lang="en-US" sz="1750" dirty="0"/>
          </a:p>
        </p:txBody>
      </p:sp>
      <p:sp>
        <p:nvSpPr>
          <p:cNvPr id="16" name="Text 12"/>
          <p:cNvSpPr/>
          <p:nvPr/>
        </p:nvSpPr>
        <p:spPr>
          <a:xfrm>
            <a:off x="7543086" y="5921454"/>
            <a:ext cx="6372701" cy="275868"/>
          </a:xfrm>
          <a:prstGeom prst="rect">
            <a:avLst/>
          </a:prstGeom>
          <a:noFill/>
          <a:ln/>
        </p:spPr>
        <p:txBody>
          <a:bodyPr wrap="none" lIns="0" tIns="0" rIns="0" bIns="0" rtlCol="0" anchor="t"/>
          <a:lstStyle/>
          <a:p>
            <a:pPr algn="l"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Loyal: 3,116 customers (79.9%)</a:t>
            </a:r>
            <a:endParaRPr lang="en-US" sz="1400" dirty="0"/>
          </a:p>
        </p:txBody>
      </p:sp>
      <p:sp>
        <p:nvSpPr>
          <p:cNvPr id="17" name="Text 13"/>
          <p:cNvSpPr/>
          <p:nvPr/>
        </p:nvSpPr>
        <p:spPr>
          <a:xfrm>
            <a:off x="7543086" y="6345079"/>
            <a:ext cx="6372701" cy="275868"/>
          </a:xfrm>
          <a:prstGeom prst="rect">
            <a:avLst/>
          </a:prstGeom>
          <a:noFill/>
          <a:ln/>
        </p:spPr>
        <p:txBody>
          <a:bodyPr wrap="none" lIns="0" tIns="0" rIns="0" bIns="0" rtlCol="0" anchor="t"/>
          <a:lstStyle/>
          <a:p>
            <a:pPr algn="l"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Returning: 701 customers (18.0%)</a:t>
            </a:r>
            <a:endParaRPr lang="en-US" sz="1400" dirty="0"/>
          </a:p>
        </p:txBody>
      </p:sp>
      <p:sp>
        <p:nvSpPr>
          <p:cNvPr id="18" name="Text 14"/>
          <p:cNvSpPr/>
          <p:nvPr/>
        </p:nvSpPr>
        <p:spPr>
          <a:xfrm>
            <a:off x="7543086" y="6768703"/>
            <a:ext cx="6372701" cy="275868"/>
          </a:xfrm>
          <a:prstGeom prst="rect">
            <a:avLst/>
          </a:prstGeom>
          <a:noFill/>
          <a:ln/>
        </p:spPr>
        <p:txBody>
          <a:bodyPr wrap="none" lIns="0" tIns="0" rIns="0" bIns="0" rtlCol="0" anchor="t"/>
          <a:lstStyle/>
          <a:p>
            <a:pPr algn="l"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New: 83 customers (2.1%)</a:t>
            </a:r>
            <a:endParaRPr lang="en-US" sz="1400" dirty="0"/>
          </a:p>
        </p:txBody>
      </p:sp>
      <p:sp>
        <p:nvSpPr>
          <p:cNvPr id="19" name="Text 15"/>
          <p:cNvSpPr/>
          <p:nvPr/>
        </p:nvSpPr>
        <p:spPr>
          <a:xfrm>
            <a:off x="7543086" y="7192328"/>
            <a:ext cx="6372701" cy="275868"/>
          </a:xfrm>
          <a:prstGeom prst="rect">
            <a:avLst/>
          </a:prstGeom>
          <a:noFill/>
          <a:ln/>
        </p:spPr>
        <p:txBody>
          <a:bodyPr wrap="none" lIns="0" tIns="0" rIns="0" bIns="0" rtlCol="0" anchor="t"/>
          <a:lstStyle/>
          <a:p>
            <a:pPr algn="l" indent="0" marL="0">
              <a:lnSpc>
                <a:spcPts val="2150"/>
              </a:lnSpc>
              <a:buNone/>
            </a:pPr>
            <a:r>
              <a:rPr lang="en-US" sz="1400" dirty="0">
                <a:solidFill>
                  <a:srgbClr val="2B4150"/>
                </a:solidFill>
                <a:latin typeface="Source Sans 3" pitchFamily="34" charset="0"/>
                <a:ea typeface="Source Sans 3" pitchFamily="34" charset="-122"/>
                <a:cs typeface="Source Sans 3" pitchFamily="34" charset="-120"/>
              </a:rPr>
              <a:t>Strong repeat purchase behavior indicates high customer retention.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678299"/>
            <a:ext cx="6158032" cy="620078"/>
          </a:xfrm>
          <a:prstGeom prst="rect">
            <a:avLst/>
          </a:prstGeom>
          <a:noFill/>
          <a:ln/>
        </p:spPr>
        <p:txBody>
          <a:bodyPr wrap="none" lIns="0" tIns="0" rIns="0" bIns="0" rtlCol="0" anchor="t"/>
          <a:lstStyle/>
          <a:p>
            <a:pPr algn="l" indent="0" marL="0">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Top Products by Category</a:t>
            </a:r>
            <a:endParaRPr lang="en-US" sz="3900" dirty="0"/>
          </a:p>
        </p:txBody>
      </p:sp>
      <p:sp>
        <p:nvSpPr>
          <p:cNvPr id="3" name="Shape 1"/>
          <p:cNvSpPr/>
          <p:nvPr/>
        </p:nvSpPr>
        <p:spPr>
          <a:xfrm>
            <a:off x="793790" y="1695212"/>
            <a:ext cx="6422231" cy="2558415"/>
          </a:xfrm>
          <a:prstGeom prst="roundRect">
            <a:avLst>
              <a:gd name="adj" fmla="val 1164"/>
            </a:avLst>
          </a:prstGeom>
          <a:solidFill>
            <a:srgbClr val="FFFCF5"/>
          </a:solidFill>
          <a:ln w="22860">
            <a:solidFill>
              <a:srgbClr val="D9D4C9"/>
            </a:solidFill>
            <a:prstDash val="solid"/>
          </a:ln>
        </p:spPr>
      </p:sp>
      <p:sp>
        <p:nvSpPr>
          <p:cNvPr id="4" name="Shape 2"/>
          <p:cNvSpPr/>
          <p:nvPr/>
        </p:nvSpPr>
        <p:spPr>
          <a:xfrm>
            <a:off x="816650" y="1718072"/>
            <a:ext cx="6376511" cy="595313"/>
          </a:xfrm>
          <a:prstGeom prst="roundRect">
            <a:avLst>
              <a:gd name="adj" fmla="val 393"/>
            </a:avLst>
          </a:prstGeom>
          <a:solidFill>
            <a:srgbClr val="F3EEE3"/>
          </a:solidFill>
          <a:ln/>
        </p:spPr>
      </p:sp>
      <p:sp>
        <p:nvSpPr>
          <p:cNvPr id="5" name="Text 3"/>
          <p:cNvSpPr/>
          <p:nvPr/>
        </p:nvSpPr>
        <p:spPr>
          <a:xfrm>
            <a:off x="3856077" y="1829633"/>
            <a:ext cx="297656" cy="372070"/>
          </a:xfrm>
          <a:prstGeom prst="rect">
            <a:avLst/>
          </a:prstGeom>
          <a:noFill/>
          <a:ln/>
        </p:spPr>
        <p:txBody>
          <a:bodyPr wrap="none" lIns="0" tIns="0" rIns="0" bIns="0" rtlCol="0" anchor="t"/>
          <a:lstStyle/>
          <a:p>
            <a:pPr algn="l" indent="0" marL="0">
              <a:lnSpc>
                <a:spcPts val="2300"/>
              </a:lnSpc>
              <a:buNone/>
            </a:pPr>
            <a:r>
              <a:rPr lang="en-US" sz="2300" dirty="0">
                <a:solidFill>
                  <a:srgbClr val="2B4150"/>
                </a:solidFill>
                <a:latin typeface="MuseoModerno Medium" pitchFamily="34" charset="0"/>
                <a:ea typeface="MuseoModerno Medium" pitchFamily="34" charset="-122"/>
                <a:cs typeface="MuseoModerno Medium" pitchFamily="34" charset="-120"/>
              </a:rPr>
              <a:t>1</a:t>
            </a:r>
            <a:endParaRPr lang="en-US" sz="2300" dirty="0"/>
          </a:p>
        </p:txBody>
      </p:sp>
      <p:sp>
        <p:nvSpPr>
          <p:cNvPr id="6" name="Text 4"/>
          <p:cNvSpPr/>
          <p:nvPr/>
        </p:nvSpPr>
        <p:spPr>
          <a:xfrm>
            <a:off x="1015008" y="251174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Accessories</a:t>
            </a:r>
            <a:endParaRPr lang="en-US" sz="1950" dirty="0"/>
          </a:p>
        </p:txBody>
      </p:sp>
      <p:sp>
        <p:nvSpPr>
          <p:cNvPr id="7" name="Text 5"/>
          <p:cNvSpPr/>
          <p:nvPr/>
        </p:nvSpPr>
        <p:spPr>
          <a:xfrm>
            <a:off x="1015008" y="2940963"/>
            <a:ext cx="5979795" cy="1091446"/>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Jewelry (171 orders)</a:t>
            </a:r>
            <a:endParaRPr lang="en-US" sz="1550" dirty="0"/>
          </a:p>
          <a:p>
            <a:pPr algn="l" marL="342900" indent="-342900">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Sunglasses (161 orders)</a:t>
            </a:r>
            <a:endParaRPr lang="en-US" sz="1550" dirty="0"/>
          </a:p>
          <a:p>
            <a:pPr algn="l" marL="342900" indent="-342900">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Belt (161 orders)</a:t>
            </a:r>
            <a:endParaRPr lang="en-US" sz="1550" dirty="0"/>
          </a:p>
        </p:txBody>
      </p:sp>
      <p:sp>
        <p:nvSpPr>
          <p:cNvPr id="8" name="Shape 6"/>
          <p:cNvSpPr/>
          <p:nvPr/>
        </p:nvSpPr>
        <p:spPr>
          <a:xfrm>
            <a:off x="7414379" y="1695212"/>
            <a:ext cx="6422231" cy="2558415"/>
          </a:xfrm>
          <a:prstGeom prst="roundRect">
            <a:avLst>
              <a:gd name="adj" fmla="val 1164"/>
            </a:avLst>
          </a:prstGeom>
          <a:solidFill>
            <a:srgbClr val="FFFCF5"/>
          </a:solidFill>
          <a:ln w="22860">
            <a:solidFill>
              <a:srgbClr val="D9D4C9"/>
            </a:solidFill>
            <a:prstDash val="solid"/>
          </a:ln>
        </p:spPr>
      </p:sp>
      <p:sp>
        <p:nvSpPr>
          <p:cNvPr id="9" name="Shape 7"/>
          <p:cNvSpPr/>
          <p:nvPr/>
        </p:nvSpPr>
        <p:spPr>
          <a:xfrm>
            <a:off x="7437239" y="1718072"/>
            <a:ext cx="6376511" cy="595313"/>
          </a:xfrm>
          <a:prstGeom prst="roundRect">
            <a:avLst>
              <a:gd name="adj" fmla="val 393"/>
            </a:avLst>
          </a:prstGeom>
          <a:solidFill>
            <a:srgbClr val="F3EEE3"/>
          </a:solidFill>
          <a:ln/>
        </p:spPr>
      </p:sp>
      <p:sp>
        <p:nvSpPr>
          <p:cNvPr id="10" name="Text 8"/>
          <p:cNvSpPr/>
          <p:nvPr/>
        </p:nvSpPr>
        <p:spPr>
          <a:xfrm>
            <a:off x="10476667" y="1829633"/>
            <a:ext cx="297656" cy="372070"/>
          </a:xfrm>
          <a:prstGeom prst="rect">
            <a:avLst/>
          </a:prstGeom>
          <a:noFill/>
          <a:ln/>
        </p:spPr>
        <p:txBody>
          <a:bodyPr wrap="none" lIns="0" tIns="0" rIns="0" bIns="0" rtlCol="0" anchor="t"/>
          <a:lstStyle/>
          <a:p>
            <a:pPr algn="l" indent="0" marL="0">
              <a:lnSpc>
                <a:spcPts val="2300"/>
              </a:lnSpc>
              <a:buNone/>
            </a:pPr>
            <a:r>
              <a:rPr lang="en-US" sz="2300" dirty="0">
                <a:solidFill>
                  <a:srgbClr val="2B4150"/>
                </a:solidFill>
                <a:latin typeface="MuseoModerno Medium" pitchFamily="34" charset="0"/>
                <a:ea typeface="MuseoModerno Medium" pitchFamily="34" charset="-122"/>
                <a:cs typeface="MuseoModerno Medium" pitchFamily="34" charset="-120"/>
              </a:rPr>
              <a:t>2</a:t>
            </a:r>
            <a:endParaRPr lang="en-US" sz="2300" dirty="0"/>
          </a:p>
        </p:txBody>
      </p:sp>
      <p:sp>
        <p:nvSpPr>
          <p:cNvPr id="11" name="Text 9"/>
          <p:cNvSpPr/>
          <p:nvPr/>
        </p:nvSpPr>
        <p:spPr>
          <a:xfrm>
            <a:off x="7635597" y="251174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Clothing</a:t>
            </a:r>
            <a:endParaRPr lang="en-US" sz="1950" dirty="0"/>
          </a:p>
        </p:txBody>
      </p:sp>
      <p:sp>
        <p:nvSpPr>
          <p:cNvPr id="12" name="Text 10"/>
          <p:cNvSpPr/>
          <p:nvPr/>
        </p:nvSpPr>
        <p:spPr>
          <a:xfrm>
            <a:off x="7635597" y="2940963"/>
            <a:ext cx="5979795" cy="1091446"/>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Blouse (171 orders)</a:t>
            </a:r>
            <a:endParaRPr lang="en-US" sz="1550" dirty="0"/>
          </a:p>
          <a:p>
            <a:pPr algn="l" marL="342900" indent="-342900">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Pants (171 orders)</a:t>
            </a:r>
            <a:endParaRPr lang="en-US" sz="1550" dirty="0"/>
          </a:p>
          <a:p>
            <a:pPr algn="l" marL="342900" indent="-342900">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Shirt (169 orders)</a:t>
            </a:r>
            <a:endParaRPr lang="en-US" sz="1550" dirty="0"/>
          </a:p>
        </p:txBody>
      </p:sp>
      <p:sp>
        <p:nvSpPr>
          <p:cNvPr id="13" name="Shape 11"/>
          <p:cNvSpPr/>
          <p:nvPr/>
        </p:nvSpPr>
        <p:spPr>
          <a:xfrm>
            <a:off x="793790" y="4451985"/>
            <a:ext cx="6422231" cy="2558415"/>
          </a:xfrm>
          <a:prstGeom prst="roundRect">
            <a:avLst>
              <a:gd name="adj" fmla="val 1164"/>
            </a:avLst>
          </a:prstGeom>
          <a:solidFill>
            <a:srgbClr val="FFFCF5"/>
          </a:solidFill>
          <a:ln w="22860">
            <a:solidFill>
              <a:srgbClr val="D9D4C9"/>
            </a:solidFill>
            <a:prstDash val="solid"/>
          </a:ln>
        </p:spPr>
      </p:sp>
      <p:sp>
        <p:nvSpPr>
          <p:cNvPr id="14" name="Shape 12"/>
          <p:cNvSpPr/>
          <p:nvPr/>
        </p:nvSpPr>
        <p:spPr>
          <a:xfrm>
            <a:off x="816650" y="4474845"/>
            <a:ext cx="6376511" cy="595313"/>
          </a:xfrm>
          <a:prstGeom prst="roundRect">
            <a:avLst>
              <a:gd name="adj" fmla="val 393"/>
            </a:avLst>
          </a:prstGeom>
          <a:solidFill>
            <a:srgbClr val="F3EEE3"/>
          </a:solidFill>
          <a:ln/>
        </p:spPr>
      </p:sp>
      <p:sp>
        <p:nvSpPr>
          <p:cNvPr id="15" name="Text 13"/>
          <p:cNvSpPr/>
          <p:nvPr/>
        </p:nvSpPr>
        <p:spPr>
          <a:xfrm>
            <a:off x="3856077" y="4586407"/>
            <a:ext cx="297656" cy="372070"/>
          </a:xfrm>
          <a:prstGeom prst="rect">
            <a:avLst/>
          </a:prstGeom>
          <a:noFill/>
          <a:ln/>
        </p:spPr>
        <p:txBody>
          <a:bodyPr wrap="none" lIns="0" tIns="0" rIns="0" bIns="0" rtlCol="0" anchor="t"/>
          <a:lstStyle/>
          <a:p>
            <a:pPr algn="l" indent="0" marL="0">
              <a:lnSpc>
                <a:spcPts val="2300"/>
              </a:lnSpc>
              <a:buNone/>
            </a:pPr>
            <a:r>
              <a:rPr lang="en-US" sz="2300" dirty="0">
                <a:solidFill>
                  <a:srgbClr val="2B4150"/>
                </a:solidFill>
                <a:latin typeface="MuseoModerno Medium" pitchFamily="34" charset="0"/>
                <a:ea typeface="MuseoModerno Medium" pitchFamily="34" charset="-122"/>
                <a:cs typeface="MuseoModerno Medium" pitchFamily="34" charset="-120"/>
              </a:rPr>
              <a:t>3</a:t>
            </a:r>
            <a:endParaRPr lang="en-US" sz="2300" dirty="0"/>
          </a:p>
        </p:txBody>
      </p:sp>
      <p:sp>
        <p:nvSpPr>
          <p:cNvPr id="16" name="Text 14"/>
          <p:cNvSpPr/>
          <p:nvPr/>
        </p:nvSpPr>
        <p:spPr>
          <a:xfrm>
            <a:off x="1015008" y="526851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Footwear</a:t>
            </a:r>
            <a:endParaRPr lang="en-US" sz="1950" dirty="0"/>
          </a:p>
        </p:txBody>
      </p:sp>
      <p:sp>
        <p:nvSpPr>
          <p:cNvPr id="17" name="Text 15"/>
          <p:cNvSpPr/>
          <p:nvPr/>
        </p:nvSpPr>
        <p:spPr>
          <a:xfrm>
            <a:off x="1015008" y="5697736"/>
            <a:ext cx="5979795" cy="1091446"/>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Sandals (160 orders)</a:t>
            </a:r>
            <a:endParaRPr lang="en-US" sz="1550" dirty="0"/>
          </a:p>
          <a:p>
            <a:pPr algn="l" marL="342900" indent="-342900">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Shoes (150 orders)</a:t>
            </a:r>
            <a:endParaRPr lang="en-US" sz="1550" dirty="0"/>
          </a:p>
          <a:p>
            <a:pPr algn="l" marL="342900" indent="-342900">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Sneakers (145 orders)</a:t>
            </a:r>
            <a:endParaRPr lang="en-US" sz="1550" dirty="0"/>
          </a:p>
        </p:txBody>
      </p:sp>
      <p:sp>
        <p:nvSpPr>
          <p:cNvPr id="18" name="Shape 16"/>
          <p:cNvSpPr/>
          <p:nvPr/>
        </p:nvSpPr>
        <p:spPr>
          <a:xfrm>
            <a:off x="7414379" y="4451985"/>
            <a:ext cx="6422231" cy="2558415"/>
          </a:xfrm>
          <a:prstGeom prst="roundRect">
            <a:avLst>
              <a:gd name="adj" fmla="val 1164"/>
            </a:avLst>
          </a:prstGeom>
          <a:solidFill>
            <a:srgbClr val="FFFCF5"/>
          </a:solidFill>
          <a:ln w="22860">
            <a:solidFill>
              <a:srgbClr val="D9D4C9"/>
            </a:solidFill>
            <a:prstDash val="solid"/>
          </a:ln>
        </p:spPr>
      </p:sp>
      <p:sp>
        <p:nvSpPr>
          <p:cNvPr id="19" name="Shape 17"/>
          <p:cNvSpPr/>
          <p:nvPr/>
        </p:nvSpPr>
        <p:spPr>
          <a:xfrm>
            <a:off x="7437239" y="4474845"/>
            <a:ext cx="6376511" cy="595313"/>
          </a:xfrm>
          <a:prstGeom prst="roundRect">
            <a:avLst>
              <a:gd name="adj" fmla="val 393"/>
            </a:avLst>
          </a:prstGeom>
          <a:solidFill>
            <a:srgbClr val="F3EEE3"/>
          </a:solidFill>
          <a:ln/>
        </p:spPr>
      </p:sp>
      <p:sp>
        <p:nvSpPr>
          <p:cNvPr id="20" name="Text 18"/>
          <p:cNvSpPr/>
          <p:nvPr/>
        </p:nvSpPr>
        <p:spPr>
          <a:xfrm>
            <a:off x="10476667" y="4586407"/>
            <a:ext cx="297656" cy="372070"/>
          </a:xfrm>
          <a:prstGeom prst="rect">
            <a:avLst/>
          </a:prstGeom>
          <a:noFill/>
          <a:ln/>
        </p:spPr>
        <p:txBody>
          <a:bodyPr wrap="none" lIns="0" tIns="0" rIns="0" bIns="0" rtlCol="0" anchor="t"/>
          <a:lstStyle/>
          <a:p>
            <a:pPr algn="l" indent="0" marL="0">
              <a:lnSpc>
                <a:spcPts val="2300"/>
              </a:lnSpc>
              <a:buNone/>
            </a:pPr>
            <a:r>
              <a:rPr lang="en-US" sz="2300" dirty="0">
                <a:solidFill>
                  <a:srgbClr val="2B4150"/>
                </a:solidFill>
                <a:latin typeface="MuseoModerno Medium" pitchFamily="34" charset="0"/>
                <a:ea typeface="MuseoModerno Medium" pitchFamily="34" charset="-122"/>
                <a:cs typeface="MuseoModerno Medium" pitchFamily="34" charset="-120"/>
              </a:rPr>
              <a:t>4</a:t>
            </a:r>
            <a:endParaRPr lang="en-US" sz="2300" dirty="0"/>
          </a:p>
        </p:txBody>
      </p:sp>
      <p:sp>
        <p:nvSpPr>
          <p:cNvPr id="21" name="Text 19"/>
          <p:cNvSpPr/>
          <p:nvPr/>
        </p:nvSpPr>
        <p:spPr>
          <a:xfrm>
            <a:off x="7635597" y="526851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Outerwear</a:t>
            </a:r>
            <a:endParaRPr lang="en-US" sz="1950" dirty="0"/>
          </a:p>
        </p:txBody>
      </p:sp>
      <p:sp>
        <p:nvSpPr>
          <p:cNvPr id="22" name="Text 20"/>
          <p:cNvSpPr/>
          <p:nvPr/>
        </p:nvSpPr>
        <p:spPr>
          <a:xfrm>
            <a:off x="7635597" y="5697736"/>
            <a:ext cx="5979795" cy="704493"/>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Jacket (163 orders)</a:t>
            </a:r>
            <a:endParaRPr lang="en-US" sz="1550" dirty="0"/>
          </a:p>
          <a:p>
            <a:pPr algn="l" marL="342900" indent="-342900">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Coat (161 orders)</a:t>
            </a:r>
            <a:endParaRPr lang="en-US" sz="1550" dirty="0"/>
          </a:p>
        </p:txBody>
      </p:sp>
      <p:sp>
        <p:nvSpPr>
          <p:cNvPr id="23" name="Text 21"/>
          <p:cNvSpPr/>
          <p:nvPr/>
        </p:nvSpPr>
        <p:spPr>
          <a:xfrm>
            <a:off x="793790" y="7233642"/>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Blouse and Jewelry tied for highest individual product orders at 171 each, demonstrating strong performance across both clothing and accessories categories.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636752"/>
            <a:ext cx="5525453" cy="620078"/>
          </a:xfrm>
          <a:prstGeom prst="rect">
            <a:avLst/>
          </a:prstGeom>
          <a:noFill/>
          <a:ln/>
        </p:spPr>
        <p:txBody>
          <a:bodyPr wrap="none" lIns="0" tIns="0" rIns="0" bIns="0" rtlCol="0" anchor="t"/>
          <a:lstStyle/>
          <a:p>
            <a:pPr algn="l" indent="0" marL="0">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Revenue by Age Group</a:t>
            </a:r>
            <a:endParaRPr lang="en-US" sz="3900" dirty="0"/>
          </a:p>
        </p:txBody>
      </p:sp>
      <p:sp>
        <p:nvSpPr>
          <p:cNvPr id="3" name="Shape 1"/>
          <p:cNvSpPr/>
          <p:nvPr/>
        </p:nvSpPr>
        <p:spPr>
          <a:xfrm>
            <a:off x="793790" y="2752844"/>
            <a:ext cx="5748457" cy="248007"/>
          </a:xfrm>
          <a:prstGeom prst="roundRect">
            <a:avLst>
              <a:gd name="adj" fmla="val 12004"/>
            </a:avLst>
          </a:prstGeom>
          <a:solidFill>
            <a:srgbClr val="F3EEE3"/>
          </a:solidFill>
          <a:ln/>
        </p:spPr>
      </p:sp>
      <p:sp>
        <p:nvSpPr>
          <p:cNvPr id="4" name="Shape 2"/>
          <p:cNvSpPr/>
          <p:nvPr/>
        </p:nvSpPr>
        <p:spPr>
          <a:xfrm>
            <a:off x="793790" y="2752844"/>
            <a:ext cx="1551980" cy="248007"/>
          </a:xfrm>
          <a:prstGeom prst="roundRect">
            <a:avLst>
              <a:gd name="adj" fmla="val 12004"/>
            </a:avLst>
          </a:prstGeom>
          <a:solidFill>
            <a:srgbClr val="325F7B"/>
          </a:solidFill>
          <a:ln/>
        </p:spPr>
      </p:sp>
      <p:sp>
        <p:nvSpPr>
          <p:cNvPr id="5" name="Text 3"/>
          <p:cNvSpPr/>
          <p:nvPr/>
        </p:nvSpPr>
        <p:spPr>
          <a:xfrm>
            <a:off x="6691074" y="2752844"/>
            <a:ext cx="500063" cy="248007"/>
          </a:xfrm>
          <a:prstGeom prst="rect">
            <a:avLst/>
          </a:prstGeom>
          <a:noFill/>
          <a:ln/>
        </p:spPr>
        <p:txBody>
          <a:bodyPr wrap="none" lIns="0" tIns="0" rIns="0" bIns="0" rtlCol="0" anchor="t"/>
          <a:lstStyle/>
          <a:p>
            <a:pPr algn="l" indent="0" marL="0">
              <a:lnSpc>
                <a:spcPts val="1950"/>
              </a:lnSpc>
              <a:buNone/>
            </a:pPr>
            <a:r>
              <a:rPr lang="en-US" sz="1950" dirty="0">
                <a:solidFill>
                  <a:srgbClr val="2B4150"/>
                </a:solidFill>
                <a:latin typeface="MuseoModerno Medium" pitchFamily="34" charset="0"/>
                <a:ea typeface="MuseoModerno Medium" pitchFamily="34" charset="-122"/>
                <a:cs typeface="MuseoModerno Medium" pitchFamily="34" charset="-120"/>
              </a:rPr>
              <a:t>27%</a:t>
            </a:r>
            <a:endParaRPr lang="en-US" sz="1950" dirty="0"/>
          </a:p>
        </p:txBody>
      </p:sp>
      <p:sp>
        <p:nvSpPr>
          <p:cNvPr id="6" name="Text 4"/>
          <p:cNvSpPr/>
          <p:nvPr/>
        </p:nvSpPr>
        <p:spPr>
          <a:xfrm>
            <a:off x="793790" y="324885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Young Adult</a:t>
            </a:r>
            <a:endParaRPr lang="en-US" sz="1950" dirty="0"/>
          </a:p>
        </p:txBody>
      </p:sp>
      <p:sp>
        <p:nvSpPr>
          <p:cNvPr id="7" name="Text 5"/>
          <p:cNvSpPr/>
          <p:nvPr/>
        </p:nvSpPr>
        <p:spPr>
          <a:xfrm>
            <a:off x="793790" y="3678079"/>
            <a:ext cx="6397347" cy="317540"/>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$62,143 revenue</a:t>
            </a:r>
            <a:endParaRPr lang="en-US" sz="1550" dirty="0"/>
          </a:p>
        </p:txBody>
      </p:sp>
      <p:sp>
        <p:nvSpPr>
          <p:cNvPr id="8" name="Shape 6"/>
          <p:cNvSpPr/>
          <p:nvPr/>
        </p:nvSpPr>
        <p:spPr>
          <a:xfrm>
            <a:off x="7439144" y="2752844"/>
            <a:ext cx="5747385" cy="248007"/>
          </a:xfrm>
          <a:prstGeom prst="roundRect">
            <a:avLst>
              <a:gd name="adj" fmla="val 12004"/>
            </a:avLst>
          </a:prstGeom>
          <a:solidFill>
            <a:srgbClr val="F3EEE3"/>
          </a:solidFill>
          <a:ln/>
        </p:spPr>
      </p:sp>
      <p:sp>
        <p:nvSpPr>
          <p:cNvPr id="9" name="Shape 7"/>
          <p:cNvSpPr/>
          <p:nvPr/>
        </p:nvSpPr>
        <p:spPr>
          <a:xfrm>
            <a:off x="7439144" y="2752844"/>
            <a:ext cx="1436846" cy="248007"/>
          </a:xfrm>
          <a:prstGeom prst="roundRect">
            <a:avLst>
              <a:gd name="adj" fmla="val 12004"/>
            </a:avLst>
          </a:prstGeom>
          <a:solidFill>
            <a:srgbClr val="325F7B"/>
          </a:solidFill>
          <a:ln/>
        </p:spPr>
      </p:sp>
      <p:sp>
        <p:nvSpPr>
          <p:cNvPr id="10" name="Text 8"/>
          <p:cNvSpPr/>
          <p:nvPr/>
        </p:nvSpPr>
        <p:spPr>
          <a:xfrm>
            <a:off x="13335357" y="2752844"/>
            <a:ext cx="501253" cy="248007"/>
          </a:xfrm>
          <a:prstGeom prst="rect">
            <a:avLst/>
          </a:prstGeom>
          <a:noFill/>
          <a:ln/>
        </p:spPr>
        <p:txBody>
          <a:bodyPr wrap="none" lIns="0" tIns="0" rIns="0" bIns="0" rtlCol="0" anchor="t"/>
          <a:lstStyle/>
          <a:p>
            <a:pPr algn="l" indent="0" marL="0">
              <a:lnSpc>
                <a:spcPts val="1950"/>
              </a:lnSpc>
              <a:buNone/>
            </a:pPr>
            <a:r>
              <a:rPr lang="en-US" sz="1950" dirty="0">
                <a:solidFill>
                  <a:srgbClr val="2B4150"/>
                </a:solidFill>
                <a:latin typeface="MuseoModerno Medium" pitchFamily="34" charset="0"/>
                <a:ea typeface="MuseoModerno Medium" pitchFamily="34" charset="-122"/>
                <a:cs typeface="MuseoModerno Medium" pitchFamily="34" charset="-120"/>
              </a:rPr>
              <a:t>25%</a:t>
            </a:r>
            <a:endParaRPr lang="en-US" sz="1950" dirty="0"/>
          </a:p>
        </p:txBody>
      </p:sp>
      <p:sp>
        <p:nvSpPr>
          <p:cNvPr id="11" name="Text 9"/>
          <p:cNvSpPr/>
          <p:nvPr/>
        </p:nvSpPr>
        <p:spPr>
          <a:xfrm>
            <a:off x="7439144" y="324885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Middle-aged</a:t>
            </a:r>
            <a:endParaRPr lang="en-US" sz="1950" dirty="0"/>
          </a:p>
        </p:txBody>
      </p:sp>
      <p:sp>
        <p:nvSpPr>
          <p:cNvPr id="12" name="Text 10"/>
          <p:cNvSpPr/>
          <p:nvPr/>
        </p:nvSpPr>
        <p:spPr>
          <a:xfrm>
            <a:off x="7439144" y="3678079"/>
            <a:ext cx="6397466" cy="317540"/>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$59,197 revenue</a:t>
            </a:r>
            <a:endParaRPr lang="en-US" sz="1550" dirty="0"/>
          </a:p>
        </p:txBody>
      </p:sp>
      <p:sp>
        <p:nvSpPr>
          <p:cNvPr id="13" name="Shape 11"/>
          <p:cNvSpPr/>
          <p:nvPr/>
        </p:nvSpPr>
        <p:spPr>
          <a:xfrm>
            <a:off x="793790" y="4491633"/>
            <a:ext cx="5734883" cy="248007"/>
          </a:xfrm>
          <a:prstGeom prst="roundRect">
            <a:avLst>
              <a:gd name="adj" fmla="val 12004"/>
            </a:avLst>
          </a:prstGeom>
          <a:solidFill>
            <a:srgbClr val="F3EEE3"/>
          </a:solidFill>
          <a:ln/>
        </p:spPr>
      </p:sp>
      <p:sp>
        <p:nvSpPr>
          <p:cNvPr id="14" name="Shape 12"/>
          <p:cNvSpPr/>
          <p:nvPr/>
        </p:nvSpPr>
        <p:spPr>
          <a:xfrm>
            <a:off x="793790" y="4491633"/>
            <a:ext cx="1376363" cy="248007"/>
          </a:xfrm>
          <a:prstGeom prst="roundRect">
            <a:avLst>
              <a:gd name="adj" fmla="val 12004"/>
            </a:avLst>
          </a:prstGeom>
          <a:solidFill>
            <a:srgbClr val="325F7B"/>
          </a:solidFill>
          <a:ln/>
        </p:spPr>
      </p:sp>
      <p:sp>
        <p:nvSpPr>
          <p:cNvPr id="15" name="Text 13"/>
          <p:cNvSpPr/>
          <p:nvPr/>
        </p:nvSpPr>
        <p:spPr>
          <a:xfrm>
            <a:off x="6677501" y="4491633"/>
            <a:ext cx="513636" cy="248007"/>
          </a:xfrm>
          <a:prstGeom prst="rect">
            <a:avLst/>
          </a:prstGeom>
          <a:noFill/>
          <a:ln/>
        </p:spPr>
        <p:txBody>
          <a:bodyPr wrap="none" lIns="0" tIns="0" rIns="0" bIns="0" rtlCol="0" anchor="t"/>
          <a:lstStyle/>
          <a:p>
            <a:pPr algn="l" indent="0" marL="0">
              <a:lnSpc>
                <a:spcPts val="1950"/>
              </a:lnSpc>
              <a:buNone/>
            </a:pPr>
            <a:r>
              <a:rPr lang="en-US" sz="1950" dirty="0">
                <a:solidFill>
                  <a:srgbClr val="2B4150"/>
                </a:solidFill>
                <a:latin typeface="MuseoModerno Medium" pitchFamily="34" charset="0"/>
                <a:ea typeface="MuseoModerno Medium" pitchFamily="34" charset="-122"/>
                <a:cs typeface="MuseoModerno Medium" pitchFamily="34" charset="-120"/>
              </a:rPr>
              <a:t>24%</a:t>
            </a:r>
            <a:endParaRPr lang="en-US" sz="1950" dirty="0"/>
          </a:p>
        </p:txBody>
      </p:sp>
      <p:sp>
        <p:nvSpPr>
          <p:cNvPr id="16" name="Text 14"/>
          <p:cNvSpPr/>
          <p:nvPr/>
        </p:nvSpPr>
        <p:spPr>
          <a:xfrm>
            <a:off x="793790" y="498764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Adult</a:t>
            </a:r>
            <a:endParaRPr lang="en-US" sz="1950" dirty="0"/>
          </a:p>
        </p:txBody>
      </p:sp>
      <p:sp>
        <p:nvSpPr>
          <p:cNvPr id="17" name="Text 15"/>
          <p:cNvSpPr/>
          <p:nvPr/>
        </p:nvSpPr>
        <p:spPr>
          <a:xfrm>
            <a:off x="793790" y="5416867"/>
            <a:ext cx="6397347" cy="317540"/>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$55,978 revenue</a:t>
            </a:r>
            <a:endParaRPr lang="en-US" sz="1550" dirty="0"/>
          </a:p>
        </p:txBody>
      </p:sp>
      <p:sp>
        <p:nvSpPr>
          <p:cNvPr id="18" name="Shape 16"/>
          <p:cNvSpPr/>
          <p:nvPr/>
        </p:nvSpPr>
        <p:spPr>
          <a:xfrm>
            <a:off x="7439144" y="4491633"/>
            <a:ext cx="5735003" cy="248007"/>
          </a:xfrm>
          <a:prstGeom prst="roundRect">
            <a:avLst>
              <a:gd name="adj" fmla="val 12004"/>
            </a:avLst>
          </a:prstGeom>
          <a:solidFill>
            <a:srgbClr val="F3EEE3"/>
          </a:solidFill>
          <a:ln/>
        </p:spPr>
      </p:sp>
      <p:sp>
        <p:nvSpPr>
          <p:cNvPr id="19" name="Shape 17"/>
          <p:cNvSpPr/>
          <p:nvPr/>
        </p:nvSpPr>
        <p:spPr>
          <a:xfrm>
            <a:off x="7439144" y="4491633"/>
            <a:ext cx="1376363" cy="248007"/>
          </a:xfrm>
          <a:prstGeom prst="roundRect">
            <a:avLst>
              <a:gd name="adj" fmla="val 12004"/>
            </a:avLst>
          </a:prstGeom>
          <a:solidFill>
            <a:srgbClr val="325F7B"/>
          </a:solidFill>
          <a:ln/>
        </p:spPr>
      </p:sp>
      <p:sp>
        <p:nvSpPr>
          <p:cNvPr id="20" name="Text 18"/>
          <p:cNvSpPr/>
          <p:nvPr/>
        </p:nvSpPr>
        <p:spPr>
          <a:xfrm>
            <a:off x="13322975" y="4491633"/>
            <a:ext cx="513636" cy="248007"/>
          </a:xfrm>
          <a:prstGeom prst="rect">
            <a:avLst/>
          </a:prstGeom>
          <a:noFill/>
          <a:ln/>
        </p:spPr>
        <p:txBody>
          <a:bodyPr wrap="none" lIns="0" tIns="0" rIns="0" bIns="0" rtlCol="0" anchor="t"/>
          <a:lstStyle/>
          <a:p>
            <a:pPr algn="l" indent="0" marL="0">
              <a:lnSpc>
                <a:spcPts val="1950"/>
              </a:lnSpc>
              <a:buNone/>
            </a:pPr>
            <a:r>
              <a:rPr lang="en-US" sz="1950" dirty="0">
                <a:solidFill>
                  <a:srgbClr val="2B4150"/>
                </a:solidFill>
                <a:latin typeface="MuseoModerno Medium" pitchFamily="34" charset="0"/>
                <a:ea typeface="MuseoModerno Medium" pitchFamily="34" charset="-122"/>
                <a:cs typeface="MuseoModerno Medium" pitchFamily="34" charset="-120"/>
              </a:rPr>
              <a:t>24%</a:t>
            </a:r>
            <a:endParaRPr lang="en-US" sz="1950" dirty="0"/>
          </a:p>
        </p:txBody>
      </p:sp>
      <p:sp>
        <p:nvSpPr>
          <p:cNvPr id="21" name="Text 19"/>
          <p:cNvSpPr/>
          <p:nvPr/>
        </p:nvSpPr>
        <p:spPr>
          <a:xfrm>
            <a:off x="7439144" y="498764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Senior</a:t>
            </a:r>
            <a:endParaRPr lang="en-US" sz="1950" dirty="0"/>
          </a:p>
        </p:txBody>
      </p:sp>
      <p:sp>
        <p:nvSpPr>
          <p:cNvPr id="22" name="Text 20"/>
          <p:cNvSpPr/>
          <p:nvPr/>
        </p:nvSpPr>
        <p:spPr>
          <a:xfrm>
            <a:off x="7439144" y="5416867"/>
            <a:ext cx="6397466" cy="317540"/>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$55,763 revenue</a:t>
            </a:r>
            <a:endParaRPr lang="en-US" sz="1550" dirty="0"/>
          </a:p>
        </p:txBody>
      </p:sp>
      <p:sp>
        <p:nvSpPr>
          <p:cNvPr id="23" name="Text 21"/>
          <p:cNvSpPr/>
          <p:nvPr/>
        </p:nvSpPr>
        <p:spPr>
          <a:xfrm>
            <a:off x="793790" y="5957649"/>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Revenue distribution across age groups is remarkably balanced, with Young Adults leading at 27% of total revenue. This even spread suggests broad demographic appeal and opportunities for age-targeted marketing strategies.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558296"/>
            <a:ext cx="5390078" cy="620078"/>
          </a:xfrm>
          <a:prstGeom prst="rect">
            <a:avLst/>
          </a:prstGeom>
          <a:noFill/>
          <a:ln/>
        </p:spPr>
        <p:txBody>
          <a:bodyPr wrap="none" lIns="0" tIns="0" rIns="0" bIns="0" rtlCol="0" anchor="t"/>
          <a:lstStyle/>
          <a:p>
            <a:pPr algn="l" indent="0" marL="0">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Key Business Insights</a:t>
            </a:r>
            <a:endParaRPr lang="en-US" sz="3900" dirty="0"/>
          </a:p>
        </p:txBody>
      </p:sp>
      <p:sp>
        <p:nvSpPr>
          <p:cNvPr id="3" name="Shape 1"/>
          <p:cNvSpPr/>
          <p:nvPr/>
        </p:nvSpPr>
        <p:spPr>
          <a:xfrm>
            <a:off x="793790" y="3575209"/>
            <a:ext cx="4215289" cy="2096095"/>
          </a:xfrm>
          <a:prstGeom prst="roundRect">
            <a:avLst>
              <a:gd name="adj" fmla="val 1420"/>
            </a:avLst>
          </a:prstGeom>
          <a:solidFill>
            <a:srgbClr val="F3EEE3"/>
          </a:solidFill>
          <a:ln/>
        </p:spPr>
      </p:sp>
      <p:sp>
        <p:nvSpPr>
          <p:cNvPr id="4" name="Text 2"/>
          <p:cNvSpPr/>
          <p:nvPr/>
        </p:nvSpPr>
        <p:spPr>
          <a:xfrm>
            <a:off x="992148" y="3773567"/>
            <a:ext cx="3685937"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Repeat Buyers &amp; Subscriptions</a:t>
            </a:r>
            <a:endParaRPr lang="en-US" sz="1950" dirty="0"/>
          </a:p>
        </p:txBody>
      </p:sp>
      <p:sp>
        <p:nvSpPr>
          <p:cNvPr id="5" name="Text 3"/>
          <p:cNvSpPr/>
          <p:nvPr/>
        </p:nvSpPr>
        <p:spPr>
          <a:xfrm>
            <a:off x="992148" y="4202787"/>
            <a:ext cx="3818573" cy="127015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958 repeat buyers (purchases &gt;5) are subscribed vs. 2,518 non-subscribers. Repeat buyers show 38% subscription rate, indicating loyalty program effectiveness.</a:t>
            </a:r>
            <a:endParaRPr lang="en-US" sz="1550" dirty="0"/>
          </a:p>
        </p:txBody>
      </p:sp>
      <p:sp>
        <p:nvSpPr>
          <p:cNvPr id="6" name="Shape 4"/>
          <p:cNvSpPr/>
          <p:nvPr/>
        </p:nvSpPr>
        <p:spPr>
          <a:xfrm>
            <a:off x="5207437" y="3575209"/>
            <a:ext cx="4215408" cy="2096095"/>
          </a:xfrm>
          <a:prstGeom prst="roundRect">
            <a:avLst>
              <a:gd name="adj" fmla="val 1420"/>
            </a:avLst>
          </a:prstGeom>
          <a:solidFill>
            <a:srgbClr val="F3EEE3"/>
          </a:solidFill>
          <a:ln/>
        </p:spPr>
      </p:sp>
      <p:sp>
        <p:nvSpPr>
          <p:cNvPr id="7" name="Text 5"/>
          <p:cNvSpPr/>
          <p:nvPr/>
        </p:nvSpPr>
        <p:spPr>
          <a:xfrm>
            <a:off x="5405795" y="3773567"/>
            <a:ext cx="3621167"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High-Spending Discount Users</a:t>
            </a:r>
            <a:endParaRPr lang="en-US" sz="1950" dirty="0"/>
          </a:p>
        </p:txBody>
      </p:sp>
      <p:sp>
        <p:nvSpPr>
          <p:cNvPr id="8" name="Text 6"/>
          <p:cNvSpPr/>
          <p:nvPr/>
        </p:nvSpPr>
        <p:spPr>
          <a:xfrm>
            <a:off x="5405795" y="4202787"/>
            <a:ext cx="3818692" cy="127015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839 customers used discounts but spent above average ($59.76). Strategic discounting can drive volume without sacrificing revenue quality.</a:t>
            </a:r>
            <a:endParaRPr lang="en-US" sz="1550" dirty="0"/>
          </a:p>
        </p:txBody>
      </p:sp>
      <p:sp>
        <p:nvSpPr>
          <p:cNvPr id="9" name="Shape 7"/>
          <p:cNvSpPr/>
          <p:nvPr/>
        </p:nvSpPr>
        <p:spPr>
          <a:xfrm>
            <a:off x="9621203" y="3575209"/>
            <a:ext cx="4215289" cy="2096095"/>
          </a:xfrm>
          <a:prstGeom prst="roundRect">
            <a:avLst>
              <a:gd name="adj" fmla="val 1420"/>
            </a:avLst>
          </a:prstGeom>
          <a:solidFill>
            <a:srgbClr val="F3EEE3"/>
          </a:solidFill>
          <a:ln/>
        </p:spPr>
      </p:sp>
      <p:sp>
        <p:nvSpPr>
          <p:cNvPr id="10" name="Text 8"/>
          <p:cNvSpPr/>
          <p:nvPr/>
        </p:nvSpPr>
        <p:spPr>
          <a:xfrm>
            <a:off x="9819561" y="3773567"/>
            <a:ext cx="3370421"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Express Shipping Preference</a:t>
            </a:r>
            <a:endParaRPr lang="en-US" sz="1950" dirty="0"/>
          </a:p>
        </p:txBody>
      </p:sp>
      <p:sp>
        <p:nvSpPr>
          <p:cNvPr id="11" name="Text 9"/>
          <p:cNvSpPr/>
          <p:nvPr/>
        </p:nvSpPr>
        <p:spPr>
          <a:xfrm>
            <a:off x="9819561" y="4202787"/>
            <a:ext cx="3818573" cy="1270159"/>
          </a:xfrm>
          <a:prstGeom prst="rect">
            <a:avLst/>
          </a:prstGeom>
          <a:noFill/>
          <a:ln/>
        </p:spPr>
        <p:txBody>
          <a:bodyPr wrap="squar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Express shipping customers spend 3.5% more per purchase ($60.48 vs. $58.46). Premium shipping correlates with higher spending behavior.</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29483"/>
            <a:ext cx="6776204" cy="620078"/>
          </a:xfrm>
          <a:prstGeom prst="rect">
            <a:avLst/>
          </a:prstGeom>
          <a:noFill/>
          <a:ln/>
        </p:spPr>
        <p:txBody>
          <a:bodyPr wrap="none" lIns="0" tIns="0" rIns="0" bIns="0" rtlCol="0" anchor="t"/>
          <a:lstStyle/>
          <a:p>
            <a:pPr algn="l" indent="0" marL="0">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Strategic Recommendations</a:t>
            </a:r>
            <a:endParaRPr lang="en-US" sz="3900" dirty="0"/>
          </a:p>
        </p:txBody>
      </p:sp>
      <p:pic>
        <p:nvPicPr>
          <p:cNvPr id="3" name="Image 0" descr="preencoded.png">    </p:cNvPr>
          <p:cNvPicPr>
            <a:picLocks noChangeAspect="1"/>
          </p:cNvPicPr>
          <p:nvPr/>
        </p:nvPicPr>
        <p:blipFill>
          <a:blip r:embed="rId1"/>
          <a:stretch>
            <a:fillRect/>
          </a:stretch>
        </p:blipFill>
        <p:spPr>
          <a:xfrm>
            <a:off x="793790" y="1646396"/>
            <a:ext cx="992267" cy="1190744"/>
          </a:xfrm>
          <a:prstGeom prst="rect">
            <a:avLst/>
          </a:prstGeom>
        </p:spPr>
      </p:pic>
      <p:sp>
        <p:nvSpPr>
          <p:cNvPr id="4" name="Text 1"/>
          <p:cNvSpPr/>
          <p:nvPr/>
        </p:nvSpPr>
        <p:spPr>
          <a:xfrm>
            <a:off x="1984415" y="184475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Boost Subscriptions</a:t>
            </a:r>
            <a:endParaRPr lang="en-US" sz="1950" dirty="0"/>
          </a:p>
        </p:txBody>
      </p:sp>
      <p:sp>
        <p:nvSpPr>
          <p:cNvPr id="5" name="Text 2"/>
          <p:cNvSpPr/>
          <p:nvPr/>
        </p:nvSpPr>
        <p:spPr>
          <a:xfrm>
            <a:off x="1984415" y="2273975"/>
            <a:ext cx="11852196" cy="317540"/>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Promote exclusive benefits and incentives to convert 73% non-subscribers. Current subscribers show strong engagement patterns.</a:t>
            </a:r>
            <a:endParaRPr lang="en-US" sz="1550" dirty="0"/>
          </a:p>
        </p:txBody>
      </p:sp>
      <p:pic>
        <p:nvPicPr>
          <p:cNvPr id="6" name="Image 1" descr="preencoded.png">    </p:cNvPr>
          <p:cNvPicPr>
            <a:picLocks noChangeAspect="1"/>
          </p:cNvPicPr>
          <p:nvPr/>
        </p:nvPicPr>
        <p:blipFill>
          <a:blip r:embed="rId2"/>
          <a:stretch>
            <a:fillRect/>
          </a:stretch>
        </p:blipFill>
        <p:spPr>
          <a:xfrm>
            <a:off x="793790" y="2837140"/>
            <a:ext cx="992267" cy="1190744"/>
          </a:xfrm>
          <a:prstGeom prst="rect">
            <a:avLst/>
          </a:prstGeom>
        </p:spPr>
      </p:pic>
      <p:sp>
        <p:nvSpPr>
          <p:cNvPr id="7" name="Text 3"/>
          <p:cNvSpPr/>
          <p:nvPr/>
        </p:nvSpPr>
        <p:spPr>
          <a:xfrm>
            <a:off x="1984415" y="3035498"/>
            <a:ext cx="3343632"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Customer Loyalty Programs</a:t>
            </a:r>
            <a:endParaRPr lang="en-US" sz="1950" dirty="0"/>
          </a:p>
        </p:txBody>
      </p:sp>
      <p:sp>
        <p:nvSpPr>
          <p:cNvPr id="8" name="Text 4"/>
          <p:cNvSpPr/>
          <p:nvPr/>
        </p:nvSpPr>
        <p:spPr>
          <a:xfrm>
            <a:off x="1984415" y="3464719"/>
            <a:ext cx="11852196" cy="317540"/>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Reward repeat buyers to accelerate movement into "Loyal" segment. Current 79.9% loyal customer rate provides strong foundation.</a:t>
            </a:r>
            <a:endParaRPr lang="en-US" sz="1550" dirty="0"/>
          </a:p>
        </p:txBody>
      </p:sp>
      <p:pic>
        <p:nvPicPr>
          <p:cNvPr id="9" name="Image 2" descr="preencoded.png">    </p:cNvPr>
          <p:cNvPicPr>
            <a:picLocks noChangeAspect="1"/>
          </p:cNvPicPr>
          <p:nvPr/>
        </p:nvPicPr>
        <p:blipFill>
          <a:blip r:embed="rId3"/>
          <a:stretch>
            <a:fillRect/>
          </a:stretch>
        </p:blipFill>
        <p:spPr>
          <a:xfrm>
            <a:off x="793790" y="4027884"/>
            <a:ext cx="992267" cy="1190744"/>
          </a:xfrm>
          <a:prstGeom prst="rect">
            <a:avLst/>
          </a:prstGeom>
        </p:spPr>
      </p:pic>
      <p:sp>
        <p:nvSpPr>
          <p:cNvPr id="10" name="Text 5"/>
          <p:cNvSpPr/>
          <p:nvPr/>
        </p:nvSpPr>
        <p:spPr>
          <a:xfrm>
            <a:off x="1984415" y="4226243"/>
            <a:ext cx="2751892"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Review Discount Policy</a:t>
            </a:r>
            <a:endParaRPr lang="en-US" sz="1950" dirty="0"/>
          </a:p>
        </p:txBody>
      </p:sp>
      <p:sp>
        <p:nvSpPr>
          <p:cNvPr id="11" name="Text 6"/>
          <p:cNvSpPr/>
          <p:nvPr/>
        </p:nvSpPr>
        <p:spPr>
          <a:xfrm>
            <a:off x="1984415" y="4655463"/>
            <a:ext cx="11852196" cy="317540"/>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Balance sales boosts with margin control. 50% of hats discounted suggests potential margin pressure on popular items.</a:t>
            </a:r>
            <a:endParaRPr lang="en-US" sz="1550" dirty="0"/>
          </a:p>
        </p:txBody>
      </p:sp>
      <p:pic>
        <p:nvPicPr>
          <p:cNvPr id="12" name="Image 3" descr="preencoded.png">    </p:cNvPr>
          <p:cNvPicPr>
            <a:picLocks noChangeAspect="1"/>
          </p:cNvPicPr>
          <p:nvPr/>
        </p:nvPicPr>
        <p:blipFill>
          <a:blip r:embed="rId4"/>
          <a:stretch>
            <a:fillRect/>
          </a:stretch>
        </p:blipFill>
        <p:spPr>
          <a:xfrm>
            <a:off x="793790" y="5218628"/>
            <a:ext cx="992267" cy="1190744"/>
          </a:xfrm>
          <a:prstGeom prst="rect">
            <a:avLst/>
          </a:prstGeom>
        </p:spPr>
      </p:pic>
      <p:sp>
        <p:nvSpPr>
          <p:cNvPr id="13" name="Text 7"/>
          <p:cNvSpPr/>
          <p:nvPr/>
        </p:nvSpPr>
        <p:spPr>
          <a:xfrm>
            <a:off x="1984415" y="541698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Product Positioning</a:t>
            </a:r>
            <a:endParaRPr lang="en-US" sz="1950" dirty="0"/>
          </a:p>
        </p:txBody>
      </p:sp>
      <p:sp>
        <p:nvSpPr>
          <p:cNvPr id="14" name="Text 8"/>
          <p:cNvSpPr/>
          <p:nvPr/>
        </p:nvSpPr>
        <p:spPr>
          <a:xfrm>
            <a:off x="1984415" y="5846207"/>
            <a:ext cx="11852196" cy="317540"/>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Highlight top-rated products (Gloves, Sandals, Boots) and best-sellers (Blouse, Jewelry, Pants) in marketing campaigns.</a:t>
            </a:r>
            <a:endParaRPr lang="en-US" sz="1550" dirty="0"/>
          </a:p>
        </p:txBody>
      </p:sp>
      <p:pic>
        <p:nvPicPr>
          <p:cNvPr id="15" name="Image 4" descr="preencoded.png">    </p:cNvPr>
          <p:cNvPicPr>
            <a:picLocks noChangeAspect="1"/>
          </p:cNvPicPr>
          <p:nvPr/>
        </p:nvPicPr>
        <p:blipFill>
          <a:blip r:embed="rId5"/>
          <a:stretch>
            <a:fillRect/>
          </a:stretch>
        </p:blipFill>
        <p:spPr>
          <a:xfrm>
            <a:off x="793790" y="6409373"/>
            <a:ext cx="992267" cy="1190744"/>
          </a:xfrm>
          <a:prstGeom prst="rect">
            <a:avLst/>
          </a:prstGeom>
        </p:spPr>
      </p:pic>
      <p:sp>
        <p:nvSpPr>
          <p:cNvPr id="16" name="Text 9"/>
          <p:cNvSpPr/>
          <p:nvPr/>
        </p:nvSpPr>
        <p:spPr>
          <a:xfrm>
            <a:off x="1984415" y="660773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B4150"/>
                </a:solidFill>
                <a:latin typeface="MuseoModerno Medium" pitchFamily="34" charset="0"/>
                <a:ea typeface="MuseoModerno Medium" pitchFamily="34" charset="-122"/>
                <a:cs typeface="MuseoModerno Medium" pitchFamily="34" charset="-120"/>
              </a:rPr>
              <a:t>Targeted Marketing</a:t>
            </a:r>
            <a:endParaRPr lang="en-US" sz="1950" dirty="0"/>
          </a:p>
        </p:txBody>
      </p:sp>
      <p:sp>
        <p:nvSpPr>
          <p:cNvPr id="17" name="Text 10"/>
          <p:cNvSpPr/>
          <p:nvPr/>
        </p:nvSpPr>
        <p:spPr>
          <a:xfrm>
            <a:off x="1984415" y="7036951"/>
            <a:ext cx="11852196" cy="317540"/>
          </a:xfrm>
          <a:prstGeom prst="rect">
            <a:avLst/>
          </a:prstGeom>
          <a:noFill/>
          <a:ln/>
        </p:spPr>
        <p:txBody>
          <a:bodyPr wrap="none" lIns="0" tIns="0" rIns="0" bIns="0" rtlCol="0" anchor="t"/>
          <a:lstStyle/>
          <a:p>
            <a:pPr algn="l" indent="0" marL="0">
              <a:lnSpc>
                <a:spcPts val="2500"/>
              </a:lnSpc>
              <a:buNone/>
            </a:pPr>
            <a:r>
              <a:rPr lang="en-US" sz="1550" dirty="0">
                <a:solidFill>
                  <a:srgbClr val="2B4150"/>
                </a:solidFill>
                <a:latin typeface="Source Sans 3" pitchFamily="34" charset="0"/>
                <a:ea typeface="Source Sans 3" pitchFamily="34" charset="-122"/>
                <a:cs typeface="Source Sans 3" pitchFamily="34" charset="-120"/>
              </a:rPr>
              <a:t>Focus on high-revenue age groups (Young Adults) and express-shipping users. Male customers represent 67% of revenue opportunity.</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2026-02-27T07:27:39Z</dcterms:created>
  <dcterms:modified xsi:type="dcterms:W3CDTF">2026-02-27T07:27:39Z</dcterms:modified>
</cp:coreProperties>
</file>